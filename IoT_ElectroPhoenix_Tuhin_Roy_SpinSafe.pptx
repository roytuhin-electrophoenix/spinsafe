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50B4C8"/>
    <a:srgbClr val="00359E"/>
    <a:srgbClr val="000066"/>
    <a:srgbClr val="00CCFF"/>
    <a:srgbClr val="A7A7A7"/>
    <a:srgbClr val="578FFF"/>
    <a:srgbClr val="0D5EFF"/>
    <a:srgbClr val="0B132B"/>
    <a:srgbClr val="1A1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67" d="100"/>
          <a:sy n="67" d="100"/>
        </p:scale>
        <p:origin x="51"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F8D2FB-0299-4E93-8921-14DF64836BE7}"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F74B7DB6-AC5A-4E8B-AF22-E1E9FA4E14C7}">
      <dgm:prSet phldrT="[Text]" phldr="0"/>
      <dgm:spPr>
        <a:solidFill>
          <a:srgbClr val="002060">
            <a:alpha val="50000"/>
          </a:srgbClr>
        </a:solidFill>
      </dgm:spPr>
      <dgm:t>
        <a:bodyPr/>
        <a:lstStyle/>
        <a:p>
          <a:r>
            <a:rPr lang="en-IN" b="1" dirty="0">
              <a:solidFill>
                <a:schemeClr val="bg1"/>
              </a:solidFill>
            </a:rPr>
            <a:t>Millisecond Reaction</a:t>
          </a:r>
          <a:br>
            <a:rPr lang="en-IN" b="1" dirty="0">
              <a:solidFill>
                <a:schemeClr val="bg1"/>
              </a:solidFill>
            </a:rPr>
          </a:br>
          <a:r>
            <a:rPr lang="en-IN" b="1" dirty="0">
              <a:solidFill>
                <a:schemeClr val="bg1"/>
              </a:solidFill>
            </a:rPr>
            <a:t>(Hardware)</a:t>
          </a:r>
        </a:p>
      </dgm:t>
    </dgm:pt>
    <dgm:pt modelId="{AF17FE2F-50F3-4E07-996E-C5FF6DC31FBD}" type="parTrans" cxnId="{B913083C-09BC-40E3-9280-7D0EE86805A5}">
      <dgm:prSet/>
      <dgm:spPr/>
      <dgm:t>
        <a:bodyPr/>
        <a:lstStyle/>
        <a:p>
          <a:endParaRPr lang="en-IN"/>
        </a:p>
      </dgm:t>
    </dgm:pt>
    <dgm:pt modelId="{AB370AF8-557A-47DF-9E51-B8557AAF2CE0}" type="sibTrans" cxnId="{B913083C-09BC-40E3-9280-7D0EE86805A5}">
      <dgm:prSet/>
      <dgm:spPr/>
      <dgm:t>
        <a:bodyPr/>
        <a:lstStyle/>
        <a:p>
          <a:endParaRPr lang="en-IN"/>
        </a:p>
      </dgm:t>
    </dgm:pt>
    <dgm:pt modelId="{3AEBBA73-8B94-4EE5-BCF9-1B8DF43EE180}">
      <dgm:prSet phldrT="[Text]" phldr="0"/>
      <dgm:spPr>
        <a:solidFill>
          <a:schemeClr val="bg1">
            <a:lumMod val="85000"/>
            <a:alpha val="50000"/>
          </a:schemeClr>
        </a:solidFill>
      </dgm:spPr>
      <dgm:t>
        <a:bodyPr/>
        <a:lstStyle/>
        <a:p>
          <a:r>
            <a:rPr lang="en-IN" dirty="0">
              <a:solidFill>
                <a:srgbClr val="0B132B"/>
              </a:solidFill>
            </a:rPr>
            <a:t>Complex AI Compute (Cloud)</a:t>
          </a:r>
        </a:p>
      </dgm:t>
    </dgm:pt>
    <dgm:pt modelId="{CA3FC954-0234-4F4F-8F4B-F486D211CE42}" type="parTrans" cxnId="{C18BAEFE-D36C-47BD-B693-EACB16B36ACC}">
      <dgm:prSet/>
      <dgm:spPr/>
      <dgm:t>
        <a:bodyPr/>
        <a:lstStyle/>
        <a:p>
          <a:endParaRPr lang="en-IN"/>
        </a:p>
      </dgm:t>
    </dgm:pt>
    <dgm:pt modelId="{8D168FEA-8A3C-480B-8390-2CD778392BF4}" type="sibTrans" cxnId="{C18BAEFE-D36C-47BD-B693-EACB16B36ACC}">
      <dgm:prSet/>
      <dgm:spPr/>
      <dgm:t>
        <a:bodyPr/>
        <a:lstStyle/>
        <a:p>
          <a:endParaRPr lang="en-IN"/>
        </a:p>
      </dgm:t>
    </dgm:pt>
    <dgm:pt modelId="{6C69E963-5E93-42B1-A50D-21EE0F94AD45}" type="pres">
      <dgm:prSet presAssocID="{F3F8D2FB-0299-4E93-8921-14DF64836BE7}" presName="compositeShape" presStyleCnt="0">
        <dgm:presLayoutVars>
          <dgm:chMax val="7"/>
          <dgm:dir/>
          <dgm:resizeHandles val="exact"/>
        </dgm:presLayoutVars>
      </dgm:prSet>
      <dgm:spPr/>
    </dgm:pt>
    <dgm:pt modelId="{8605AAC2-BFAF-4140-B92B-A0A2563DB055}" type="pres">
      <dgm:prSet presAssocID="{F74B7DB6-AC5A-4E8B-AF22-E1E9FA4E14C7}" presName="circ1" presStyleLbl="vennNode1" presStyleIdx="0" presStyleCnt="2"/>
      <dgm:spPr/>
    </dgm:pt>
    <dgm:pt modelId="{91FA60D7-844E-4104-BB2B-2001DFFC04E5}" type="pres">
      <dgm:prSet presAssocID="{F74B7DB6-AC5A-4E8B-AF22-E1E9FA4E14C7}" presName="circ1Tx" presStyleLbl="revTx" presStyleIdx="0" presStyleCnt="0">
        <dgm:presLayoutVars>
          <dgm:chMax val="0"/>
          <dgm:chPref val="0"/>
          <dgm:bulletEnabled val="1"/>
        </dgm:presLayoutVars>
      </dgm:prSet>
      <dgm:spPr/>
    </dgm:pt>
    <dgm:pt modelId="{EFB678BD-73D0-4A10-AB0F-A7063A611200}" type="pres">
      <dgm:prSet presAssocID="{3AEBBA73-8B94-4EE5-BCF9-1B8DF43EE180}" presName="circ2" presStyleLbl="vennNode1" presStyleIdx="1" presStyleCnt="2"/>
      <dgm:spPr/>
    </dgm:pt>
    <dgm:pt modelId="{FDC3DF63-8731-4E1D-8F94-C7B223CF66B8}" type="pres">
      <dgm:prSet presAssocID="{3AEBBA73-8B94-4EE5-BCF9-1B8DF43EE180}" presName="circ2Tx" presStyleLbl="revTx" presStyleIdx="0" presStyleCnt="0">
        <dgm:presLayoutVars>
          <dgm:chMax val="0"/>
          <dgm:chPref val="0"/>
          <dgm:bulletEnabled val="1"/>
        </dgm:presLayoutVars>
      </dgm:prSet>
      <dgm:spPr/>
    </dgm:pt>
  </dgm:ptLst>
  <dgm:cxnLst>
    <dgm:cxn modelId="{B913083C-09BC-40E3-9280-7D0EE86805A5}" srcId="{F3F8D2FB-0299-4E93-8921-14DF64836BE7}" destId="{F74B7DB6-AC5A-4E8B-AF22-E1E9FA4E14C7}" srcOrd="0" destOrd="0" parTransId="{AF17FE2F-50F3-4E07-996E-C5FF6DC31FBD}" sibTransId="{AB370AF8-557A-47DF-9E51-B8557AAF2CE0}"/>
    <dgm:cxn modelId="{6B424E66-5202-4B7A-A2CD-785FB0833AD8}" type="presOf" srcId="{3AEBBA73-8B94-4EE5-BCF9-1B8DF43EE180}" destId="{EFB678BD-73D0-4A10-AB0F-A7063A611200}" srcOrd="0" destOrd="0" presId="urn:microsoft.com/office/officeart/2005/8/layout/venn1"/>
    <dgm:cxn modelId="{670ECE92-1AF7-4970-BB8B-95D0383CFA2E}" type="presOf" srcId="{F3F8D2FB-0299-4E93-8921-14DF64836BE7}" destId="{6C69E963-5E93-42B1-A50D-21EE0F94AD45}" srcOrd="0" destOrd="0" presId="urn:microsoft.com/office/officeart/2005/8/layout/venn1"/>
    <dgm:cxn modelId="{87246095-E0A0-4E73-AFCC-3BC015280378}" type="presOf" srcId="{3AEBBA73-8B94-4EE5-BCF9-1B8DF43EE180}" destId="{FDC3DF63-8731-4E1D-8F94-C7B223CF66B8}" srcOrd="1" destOrd="0" presId="urn:microsoft.com/office/officeart/2005/8/layout/venn1"/>
    <dgm:cxn modelId="{BD9D89FA-57E2-4FDF-AFC5-9F2AE05A8B74}" type="presOf" srcId="{F74B7DB6-AC5A-4E8B-AF22-E1E9FA4E14C7}" destId="{91FA60D7-844E-4104-BB2B-2001DFFC04E5}" srcOrd="1" destOrd="0" presId="urn:microsoft.com/office/officeart/2005/8/layout/venn1"/>
    <dgm:cxn modelId="{B0F70FFC-4108-48C9-BC36-93877EC09901}" type="presOf" srcId="{F74B7DB6-AC5A-4E8B-AF22-E1E9FA4E14C7}" destId="{8605AAC2-BFAF-4140-B92B-A0A2563DB055}" srcOrd="0" destOrd="0" presId="urn:microsoft.com/office/officeart/2005/8/layout/venn1"/>
    <dgm:cxn modelId="{C18BAEFE-D36C-47BD-B693-EACB16B36ACC}" srcId="{F3F8D2FB-0299-4E93-8921-14DF64836BE7}" destId="{3AEBBA73-8B94-4EE5-BCF9-1B8DF43EE180}" srcOrd="1" destOrd="0" parTransId="{CA3FC954-0234-4F4F-8F4B-F486D211CE42}" sibTransId="{8D168FEA-8A3C-480B-8390-2CD778392BF4}"/>
    <dgm:cxn modelId="{FEFC1E32-D812-4308-A9F1-4AA39CD0F03B}" type="presParOf" srcId="{6C69E963-5E93-42B1-A50D-21EE0F94AD45}" destId="{8605AAC2-BFAF-4140-B92B-A0A2563DB055}" srcOrd="0" destOrd="0" presId="urn:microsoft.com/office/officeart/2005/8/layout/venn1"/>
    <dgm:cxn modelId="{AD30538E-9666-4879-8E52-CC8D0A8B8A82}" type="presParOf" srcId="{6C69E963-5E93-42B1-A50D-21EE0F94AD45}" destId="{91FA60D7-844E-4104-BB2B-2001DFFC04E5}" srcOrd="1" destOrd="0" presId="urn:microsoft.com/office/officeart/2005/8/layout/venn1"/>
    <dgm:cxn modelId="{DDF2AAE9-E167-4EF6-8232-5BA845F26A10}" type="presParOf" srcId="{6C69E963-5E93-42B1-A50D-21EE0F94AD45}" destId="{EFB678BD-73D0-4A10-AB0F-A7063A611200}" srcOrd="2" destOrd="0" presId="urn:microsoft.com/office/officeart/2005/8/layout/venn1"/>
    <dgm:cxn modelId="{4F6D6222-412F-4A0B-97F6-EAC5E745C516}" type="presParOf" srcId="{6C69E963-5E93-42B1-A50D-21EE0F94AD45}" destId="{FDC3DF63-8731-4E1D-8F94-C7B223CF66B8}"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3E8A03-CD82-48D3-BB4F-4BD5DE5137B5}" type="doc">
      <dgm:prSet loTypeId="urn:microsoft.com/office/officeart/2005/8/layout/chevron1" loCatId="process" qsTypeId="urn:microsoft.com/office/officeart/2005/8/quickstyle/simple5" qsCatId="simple" csTypeId="urn:microsoft.com/office/officeart/2005/8/colors/accent0_3" csCatId="mainScheme" phldr="1"/>
      <dgm:spPr/>
      <dgm:t>
        <a:bodyPr/>
        <a:lstStyle/>
        <a:p>
          <a:endParaRPr lang="en-IN"/>
        </a:p>
      </dgm:t>
    </dgm:pt>
    <dgm:pt modelId="{64A8CE1D-4639-4DA5-B009-C67D0D1C69BA}">
      <dgm:prSet phldrT="[Text]" phldr="0"/>
      <dgm:spPr>
        <a:solidFill>
          <a:srgbClr val="002060"/>
        </a:solidFill>
      </dgm:spPr>
      <dgm:t>
        <a:bodyPr/>
        <a:lstStyle/>
        <a:p>
          <a:r>
            <a:rPr lang="en-IN" dirty="0"/>
            <a:t>Motor </a:t>
          </a:r>
          <a:br>
            <a:rPr lang="en-IN" dirty="0"/>
          </a:br>
          <a:r>
            <a:rPr lang="en-IN" dirty="0"/>
            <a:t>(The Asset)</a:t>
          </a:r>
        </a:p>
      </dgm:t>
    </dgm:pt>
    <dgm:pt modelId="{6BAE07D1-5592-43F6-9F21-64C844CB3B5F}" type="parTrans" cxnId="{D5D31057-F510-43C1-B756-57CF21DCA9EF}">
      <dgm:prSet/>
      <dgm:spPr/>
      <dgm:t>
        <a:bodyPr/>
        <a:lstStyle/>
        <a:p>
          <a:endParaRPr lang="en-IN"/>
        </a:p>
      </dgm:t>
    </dgm:pt>
    <dgm:pt modelId="{687F27BC-2C86-4D81-8C2C-BD7678048DEE}" type="sibTrans" cxnId="{D5D31057-F510-43C1-B756-57CF21DCA9EF}">
      <dgm:prSet/>
      <dgm:spPr/>
      <dgm:t>
        <a:bodyPr/>
        <a:lstStyle/>
        <a:p>
          <a:endParaRPr lang="en-IN"/>
        </a:p>
      </dgm:t>
    </dgm:pt>
    <dgm:pt modelId="{5C280EA8-C810-47A0-BEC5-46B202E4BEDB}">
      <dgm:prSet phldrT="[Text]" phldr="0"/>
      <dgm:spPr>
        <a:solidFill>
          <a:srgbClr val="00359E"/>
        </a:solidFill>
      </dgm:spPr>
      <dgm:t>
        <a:bodyPr/>
        <a:lstStyle/>
        <a:p>
          <a:r>
            <a:rPr lang="en-IN" dirty="0"/>
            <a:t>Sensor Array</a:t>
          </a:r>
          <a:br>
            <a:rPr lang="en-IN" dirty="0"/>
          </a:br>
          <a:r>
            <a:rPr lang="en-IN" dirty="0"/>
            <a:t>(Vibration, Speed &amp; Temperature)</a:t>
          </a:r>
        </a:p>
      </dgm:t>
    </dgm:pt>
    <dgm:pt modelId="{1CEA05A1-A19C-42A9-B109-8D5C0A759C79}" type="parTrans" cxnId="{DC780211-6EB4-400C-927D-8493394DC90B}">
      <dgm:prSet/>
      <dgm:spPr/>
      <dgm:t>
        <a:bodyPr/>
        <a:lstStyle/>
        <a:p>
          <a:endParaRPr lang="en-IN"/>
        </a:p>
      </dgm:t>
    </dgm:pt>
    <dgm:pt modelId="{F67B8BBA-1613-40AE-AF10-B8EEEAE975C8}" type="sibTrans" cxnId="{DC780211-6EB4-400C-927D-8493394DC90B}">
      <dgm:prSet/>
      <dgm:spPr/>
      <dgm:t>
        <a:bodyPr/>
        <a:lstStyle/>
        <a:p>
          <a:endParaRPr lang="en-IN"/>
        </a:p>
      </dgm:t>
    </dgm:pt>
    <dgm:pt modelId="{63C7FC26-AD92-4D59-ACF3-6684EEDF6965}">
      <dgm:prSet phldrT="[Text]" phldr="0"/>
      <dgm:spPr>
        <a:solidFill>
          <a:srgbClr val="0D5EFF"/>
        </a:solidFill>
      </dgm:spPr>
      <dgm:t>
        <a:bodyPr/>
        <a:lstStyle/>
        <a:p>
          <a:r>
            <a:rPr lang="en-IN" dirty="0"/>
            <a:t>ESP32 Node</a:t>
          </a:r>
          <a:br>
            <a:rPr lang="en-IN" dirty="0"/>
          </a:br>
          <a:r>
            <a:rPr lang="en-IN" dirty="0"/>
            <a:t>(</a:t>
          </a:r>
          <a:r>
            <a:rPr lang="en-IN" dirty="0" err="1"/>
            <a:t>TinyML</a:t>
          </a:r>
          <a:r>
            <a:rPr lang="en-IN" dirty="0"/>
            <a:t> Inferencing)</a:t>
          </a:r>
        </a:p>
      </dgm:t>
    </dgm:pt>
    <dgm:pt modelId="{AC2B2D0D-1430-4337-84E0-A7E8155A9E5B}" type="parTrans" cxnId="{6CB98809-D6C4-4C73-BDCD-57EEEF63002C}">
      <dgm:prSet/>
      <dgm:spPr/>
      <dgm:t>
        <a:bodyPr/>
        <a:lstStyle/>
        <a:p>
          <a:endParaRPr lang="en-IN"/>
        </a:p>
      </dgm:t>
    </dgm:pt>
    <dgm:pt modelId="{CCABFA56-F42D-44F3-AA93-1C23D4166645}" type="sibTrans" cxnId="{6CB98809-D6C4-4C73-BDCD-57EEEF63002C}">
      <dgm:prSet/>
      <dgm:spPr/>
      <dgm:t>
        <a:bodyPr/>
        <a:lstStyle/>
        <a:p>
          <a:endParaRPr lang="en-IN"/>
        </a:p>
      </dgm:t>
    </dgm:pt>
    <dgm:pt modelId="{4560ED82-EFB4-4109-8183-F1C0E319DBBA}">
      <dgm:prSet phldrT="[Text]" phldr="0"/>
      <dgm:spPr>
        <a:solidFill>
          <a:srgbClr val="578FFF"/>
        </a:solidFill>
      </dgm:spPr>
      <dgm:t>
        <a:bodyPr/>
        <a:lstStyle/>
        <a:p>
          <a:r>
            <a:rPr lang="en-IN" dirty="0"/>
            <a:t>Relay Cutoff </a:t>
          </a:r>
          <a:br>
            <a:rPr lang="en-IN" dirty="0"/>
          </a:br>
          <a:r>
            <a:rPr lang="en-IN" dirty="0"/>
            <a:t>(Millisecond Action)</a:t>
          </a:r>
        </a:p>
      </dgm:t>
    </dgm:pt>
    <dgm:pt modelId="{DF208072-BB57-4B63-9904-B0F3CE61326F}" type="parTrans" cxnId="{60D2A183-AF41-414B-9DEE-2111D5A189BC}">
      <dgm:prSet/>
      <dgm:spPr/>
      <dgm:t>
        <a:bodyPr/>
        <a:lstStyle/>
        <a:p>
          <a:endParaRPr lang="en-IN"/>
        </a:p>
      </dgm:t>
    </dgm:pt>
    <dgm:pt modelId="{52224D9E-2DF6-4BE5-8DE2-29E64D6BA45B}" type="sibTrans" cxnId="{60D2A183-AF41-414B-9DEE-2111D5A189BC}">
      <dgm:prSet/>
      <dgm:spPr/>
      <dgm:t>
        <a:bodyPr/>
        <a:lstStyle/>
        <a:p>
          <a:endParaRPr lang="en-IN"/>
        </a:p>
      </dgm:t>
    </dgm:pt>
    <dgm:pt modelId="{E362DFFC-8818-424D-A7C6-75ACA3876F29}" type="pres">
      <dgm:prSet presAssocID="{AA3E8A03-CD82-48D3-BB4F-4BD5DE5137B5}" presName="Name0" presStyleCnt="0">
        <dgm:presLayoutVars>
          <dgm:dir/>
          <dgm:animLvl val="lvl"/>
          <dgm:resizeHandles val="exact"/>
        </dgm:presLayoutVars>
      </dgm:prSet>
      <dgm:spPr/>
    </dgm:pt>
    <dgm:pt modelId="{EA75A59B-6508-42DF-980F-5964A5E9F634}" type="pres">
      <dgm:prSet presAssocID="{64A8CE1D-4639-4DA5-B009-C67D0D1C69BA}" presName="parTxOnly" presStyleLbl="node1" presStyleIdx="0" presStyleCnt="4" custScaleX="94768">
        <dgm:presLayoutVars>
          <dgm:chMax val="0"/>
          <dgm:chPref val="0"/>
          <dgm:bulletEnabled val="1"/>
        </dgm:presLayoutVars>
      </dgm:prSet>
      <dgm:spPr/>
    </dgm:pt>
    <dgm:pt modelId="{23D9CDF4-9E1F-40A3-AB7B-3176024046B7}" type="pres">
      <dgm:prSet presAssocID="{687F27BC-2C86-4D81-8C2C-BD7678048DEE}" presName="parTxOnlySpace" presStyleCnt="0"/>
      <dgm:spPr/>
    </dgm:pt>
    <dgm:pt modelId="{E30BCCDA-1BD8-4221-B326-3A684CE4DFEE}" type="pres">
      <dgm:prSet presAssocID="{5C280EA8-C810-47A0-BEC5-46B202E4BEDB}" presName="parTxOnly" presStyleLbl="node1" presStyleIdx="1" presStyleCnt="4">
        <dgm:presLayoutVars>
          <dgm:chMax val="0"/>
          <dgm:chPref val="0"/>
          <dgm:bulletEnabled val="1"/>
        </dgm:presLayoutVars>
      </dgm:prSet>
      <dgm:spPr/>
    </dgm:pt>
    <dgm:pt modelId="{06BC87F4-D132-4538-9DD5-08AFBB9FB331}" type="pres">
      <dgm:prSet presAssocID="{F67B8BBA-1613-40AE-AF10-B8EEEAE975C8}" presName="parTxOnlySpace" presStyleCnt="0"/>
      <dgm:spPr/>
    </dgm:pt>
    <dgm:pt modelId="{7487F14E-77F6-4877-9CED-0264454B5183}" type="pres">
      <dgm:prSet presAssocID="{63C7FC26-AD92-4D59-ACF3-6684EEDF6965}" presName="parTxOnly" presStyleLbl="node1" presStyleIdx="2" presStyleCnt="4">
        <dgm:presLayoutVars>
          <dgm:chMax val="0"/>
          <dgm:chPref val="0"/>
          <dgm:bulletEnabled val="1"/>
        </dgm:presLayoutVars>
      </dgm:prSet>
      <dgm:spPr/>
    </dgm:pt>
    <dgm:pt modelId="{928EE6F8-1382-48F8-B655-16F39641D4CD}" type="pres">
      <dgm:prSet presAssocID="{CCABFA56-F42D-44F3-AA93-1C23D4166645}" presName="parTxOnlySpace" presStyleCnt="0"/>
      <dgm:spPr/>
    </dgm:pt>
    <dgm:pt modelId="{31D4980A-FA63-4606-ABB2-23D02E4CD684}" type="pres">
      <dgm:prSet presAssocID="{4560ED82-EFB4-4109-8183-F1C0E319DBBA}" presName="parTxOnly" presStyleLbl="node1" presStyleIdx="3" presStyleCnt="4">
        <dgm:presLayoutVars>
          <dgm:chMax val="0"/>
          <dgm:chPref val="0"/>
          <dgm:bulletEnabled val="1"/>
        </dgm:presLayoutVars>
      </dgm:prSet>
      <dgm:spPr/>
    </dgm:pt>
  </dgm:ptLst>
  <dgm:cxnLst>
    <dgm:cxn modelId="{6CB98809-D6C4-4C73-BDCD-57EEEF63002C}" srcId="{AA3E8A03-CD82-48D3-BB4F-4BD5DE5137B5}" destId="{63C7FC26-AD92-4D59-ACF3-6684EEDF6965}" srcOrd="2" destOrd="0" parTransId="{AC2B2D0D-1430-4337-84E0-A7E8155A9E5B}" sibTransId="{CCABFA56-F42D-44F3-AA93-1C23D4166645}"/>
    <dgm:cxn modelId="{DC780211-6EB4-400C-927D-8493394DC90B}" srcId="{AA3E8A03-CD82-48D3-BB4F-4BD5DE5137B5}" destId="{5C280EA8-C810-47A0-BEC5-46B202E4BEDB}" srcOrd="1" destOrd="0" parTransId="{1CEA05A1-A19C-42A9-B109-8D5C0A759C79}" sibTransId="{F67B8BBA-1613-40AE-AF10-B8EEEAE975C8}"/>
    <dgm:cxn modelId="{3108F027-85B6-498D-BA66-59C5C2936A18}" type="presOf" srcId="{63C7FC26-AD92-4D59-ACF3-6684EEDF6965}" destId="{7487F14E-77F6-4877-9CED-0264454B5183}" srcOrd="0" destOrd="0" presId="urn:microsoft.com/office/officeart/2005/8/layout/chevron1"/>
    <dgm:cxn modelId="{C6737C68-2D94-48C2-B6F1-186B437F59BE}" type="presOf" srcId="{5C280EA8-C810-47A0-BEC5-46B202E4BEDB}" destId="{E30BCCDA-1BD8-4221-B326-3A684CE4DFEE}" srcOrd="0" destOrd="0" presId="urn:microsoft.com/office/officeart/2005/8/layout/chevron1"/>
    <dgm:cxn modelId="{94948451-9E44-40D8-83B0-D660B78DF8A2}" type="presOf" srcId="{4560ED82-EFB4-4109-8183-F1C0E319DBBA}" destId="{31D4980A-FA63-4606-ABB2-23D02E4CD684}" srcOrd="0" destOrd="0" presId="urn:microsoft.com/office/officeart/2005/8/layout/chevron1"/>
    <dgm:cxn modelId="{D5D31057-F510-43C1-B756-57CF21DCA9EF}" srcId="{AA3E8A03-CD82-48D3-BB4F-4BD5DE5137B5}" destId="{64A8CE1D-4639-4DA5-B009-C67D0D1C69BA}" srcOrd="0" destOrd="0" parTransId="{6BAE07D1-5592-43F6-9F21-64C844CB3B5F}" sibTransId="{687F27BC-2C86-4D81-8C2C-BD7678048DEE}"/>
    <dgm:cxn modelId="{60D2A183-AF41-414B-9DEE-2111D5A189BC}" srcId="{AA3E8A03-CD82-48D3-BB4F-4BD5DE5137B5}" destId="{4560ED82-EFB4-4109-8183-F1C0E319DBBA}" srcOrd="3" destOrd="0" parTransId="{DF208072-BB57-4B63-9904-B0F3CE61326F}" sibTransId="{52224D9E-2DF6-4BE5-8DE2-29E64D6BA45B}"/>
    <dgm:cxn modelId="{D14D91AE-2539-4F6A-92EB-D3A7E0395397}" type="presOf" srcId="{AA3E8A03-CD82-48D3-BB4F-4BD5DE5137B5}" destId="{E362DFFC-8818-424D-A7C6-75ACA3876F29}" srcOrd="0" destOrd="0" presId="urn:microsoft.com/office/officeart/2005/8/layout/chevron1"/>
    <dgm:cxn modelId="{E3F6B2FE-7B14-412A-A79E-FDBF3EE862E0}" type="presOf" srcId="{64A8CE1D-4639-4DA5-B009-C67D0D1C69BA}" destId="{EA75A59B-6508-42DF-980F-5964A5E9F634}" srcOrd="0" destOrd="0" presId="urn:microsoft.com/office/officeart/2005/8/layout/chevron1"/>
    <dgm:cxn modelId="{7146B1D6-3135-4E94-B43F-93C032663841}" type="presParOf" srcId="{E362DFFC-8818-424D-A7C6-75ACA3876F29}" destId="{EA75A59B-6508-42DF-980F-5964A5E9F634}" srcOrd="0" destOrd="0" presId="urn:microsoft.com/office/officeart/2005/8/layout/chevron1"/>
    <dgm:cxn modelId="{CA3541EB-FB37-4209-A689-FB32CADA37D2}" type="presParOf" srcId="{E362DFFC-8818-424D-A7C6-75ACA3876F29}" destId="{23D9CDF4-9E1F-40A3-AB7B-3176024046B7}" srcOrd="1" destOrd="0" presId="urn:microsoft.com/office/officeart/2005/8/layout/chevron1"/>
    <dgm:cxn modelId="{677693A4-7ADB-46C7-82BD-8A2FAFA10CE0}" type="presParOf" srcId="{E362DFFC-8818-424D-A7C6-75ACA3876F29}" destId="{E30BCCDA-1BD8-4221-B326-3A684CE4DFEE}" srcOrd="2" destOrd="0" presId="urn:microsoft.com/office/officeart/2005/8/layout/chevron1"/>
    <dgm:cxn modelId="{F93F4106-744D-4721-B49A-A5AFD5E93E28}" type="presParOf" srcId="{E362DFFC-8818-424D-A7C6-75ACA3876F29}" destId="{06BC87F4-D132-4538-9DD5-08AFBB9FB331}" srcOrd="3" destOrd="0" presId="urn:microsoft.com/office/officeart/2005/8/layout/chevron1"/>
    <dgm:cxn modelId="{82E33873-150D-4139-B19D-492099BE553E}" type="presParOf" srcId="{E362DFFC-8818-424D-A7C6-75ACA3876F29}" destId="{7487F14E-77F6-4877-9CED-0264454B5183}" srcOrd="4" destOrd="0" presId="urn:microsoft.com/office/officeart/2005/8/layout/chevron1"/>
    <dgm:cxn modelId="{F5D132CC-A18B-4692-9953-90819F5EC353}" type="presParOf" srcId="{E362DFFC-8818-424D-A7C6-75ACA3876F29}" destId="{928EE6F8-1382-48F8-B655-16F39641D4CD}" srcOrd="5" destOrd="0" presId="urn:microsoft.com/office/officeart/2005/8/layout/chevron1"/>
    <dgm:cxn modelId="{603BD905-8C7A-4310-A01D-7467FDB3C75C}" type="presParOf" srcId="{E362DFFC-8818-424D-A7C6-75ACA3876F29}" destId="{31D4980A-FA63-4606-ABB2-23D02E4CD684}"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AAC2-BFAF-4140-B92B-A0A2563DB055}">
      <dsp:nvSpPr>
        <dsp:cNvPr id="0" name=""/>
        <dsp:cNvSpPr/>
      </dsp:nvSpPr>
      <dsp:spPr>
        <a:xfrm>
          <a:off x="840748" y="5227"/>
          <a:ext cx="1911497" cy="1911497"/>
        </a:xfrm>
        <a:prstGeom prst="ellipse">
          <a:avLst/>
        </a:prstGeom>
        <a:solidFill>
          <a:srgbClr val="002060">
            <a:alpha val="50000"/>
          </a:srgb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r>
            <a:rPr lang="en-IN" sz="1900" b="1" kern="1200" dirty="0">
              <a:solidFill>
                <a:schemeClr val="bg1"/>
              </a:solidFill>
            </a:rPr>
            <a:t>Millisecond Reaction</a:t>
          </a:r>
          <a:br>
            <a:rPr lang="en-IN" sz="1900" b="1" kern="1200" dirty="0">
              <a:solidFill>
                <a:schemeClr val="bg1"/>
              </a:solidFill>
            </a:rPr>
          </a:br>
          <a:r>
            <a:rPr lang="en-IN" sz="1900" b="1" kern="1200" dirty="0">
              <a:solidFill>
                <a:schemeClr val="bg1"/>
              </a:solidFill>
            </a:rPr>
            <a:t>(Hardware)</a:t>
          </a:r>
        </a:p>
      </dsp:txBody>
      <dsp:txXfrm>
        <a:off x="1107669" y="230634"/>
        <a:ext cx="1102124" cy="1460684"/>
      </dsp:txXfrm>
    </dsp:sp>
    <dsp:sp modelId="{EFB678BD-73D0-4A10-AB0F-A7063A611200}">
      <dsp:nvSpPr>
        <dsp:cNvPr id="0" name=""/>
        <dsp:cNvSpPr/>
      </dsp:nvSpPr>
      <dsp:spPr>
        <a:xfrm>
          <a:off x="2218404" y="5227"/>
          <a:ext cx="1911497" cy="1911497"/>
        </a:xfrm>
        <a:prstGeom prst="ellipse">
          <a:avLst/>
        </a:prstGeom>
        <a:solidFill>
          <a:schemeClr val="bg1">
            <a:lumMod val="85000"/>
            <a:alpha val="5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r>
            <a:rPr lang="en-IN" sz="1900" kern="1200" dirty="0">
              <a:solidFill>
                <a:srgbClr val="0B132B"/>
              </a:solidFill>
            </a:rPr>
            <a:t>Complex AI Compute (Cloud)</a:t>
          </a:r>
        </a:p>
      </dsp:txBody>
      <dsp:txXfrm>
        <a:off x="2760856" y="230634"/>
        <a:ext cx="1102124" cy="1460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75A59B-6508-42DF-980F-5964A5E9F634}">
      <dsp:nvSpPr>
        <dsp:cNvPr id="0" name=""/>
        <dsp:cNvSpPr/>
      </dsp:nvSpPr>
      <dsp:spPr>
        <a:xfrm>
          <a:off x="4335" y="438759"/>
          <a:ext cx="2791602" cy="1178289"/>
        </a:xfrm>
        <a:prstGeom prst="chevron">
          <a:avLst/>
        </a:prstGeom>
        <a:solidFill>
          <a:srgbClr val="00206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Motor </a:t>
          </a:r>
          <a:br>
            <a:rPr lang="en-IN" sz="2000" kern="1200" dirty="0"/>
          </a:br>
          <a:r>
            <a:rPr lang="en-IN" sz="2000" kern="1200" dirty="0"/>
            <a:t>(The Asset)</a:t>
          </a:r>
        </a:p>
      </dsp:txBody>
      <dsp:txXfrm>
        <a:off x="593480" y="438759"/>
        <a:ext cx="1613313" cy="1178289"/>
      </dsp:txXfrm>
    </dsp:sp>
    <dsp:sp modelId="{E30BCCDA-1BD8-4221-B326-3A684CE4DFEE}">
      <dsp:nvSpPr>
        <dsp:cNvPr id="0" name=""/>
        <dsp:cNvSpPr/>
      </dsp:nvSpPr>
      <dsp:spPr>
        <a:xfrm>
          <a:off x="2501366" y="438759"/>
          <a:ext cx="2945722" cy="1178289"/>
        </a:xfrm>
        <a:prstGeom prst="chevron">
          <a:avLst/>
        </a:prstGeom>
        <a:solidFill>
          <a:srgbClr val="00359E"/>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Sensor Array</a:t>
          </a:r>
          <a:br>
            <a:rPr lang="en-IN" sz="2000" kern="1200" dirty="0"/>
          </a:br>
          <a:r>
            <a:rPr lang="en-IN" sz="2000" kern="1200" dirty="0"/>
            <a:t>(Vibration, Speed &amp; Temperature)</a:t>
          </a:r>
        </a:p>
      </dsp:txBody>
      <dsp:txXfrm>
        <a:off x="3090511" y="438759"/>
        <a:ext cx="1767433" cy="1178289"/>
      </dsp:txXfrm>
    </dsp:sp>
    <dsp:sp modelId="{7487F14E-77F6-4877-9CED-0264454B5183}">
      <dsp:nvSpPr>
        <dsp:cNvPr id="0" name=""/>
        <dsp:cNvSpPr/>
      </dsp:nvSpPr>
      <dsp:spPr>
        <a:xfrm>
          <a:off x="5152516" y="438759"/>
          <a:ext cx="2945722" cy="1178289"/>
        </a:xfrm>
        <a:prstGeom prst="chevron">
          <a:avLst/>
        </a:prstGeom>
        <a:solidFill>
          <a:srgbClr val="0D5EF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ESP32 Node</a:t>
          </a:r>
          <a:br>
            <a:rPr lang="en-IN" sz="2000" kern="1200" dirty="0"/>
          </a:br>
          <a:r>
            <a:rPr lang="en-IN" sz="2000" kern="1200" dirty="0"/>
            <a:t>(</a:t>
          </a:r>
          <a:r>
            <a:rPr lang="en-IN" sz="2000" kern="1200" dirty="0" err="1"/>
            <a:t>TinyML</a:t>
          </a:r>
          <a:r>
            <a:rPr lang="en-IN" sz="2000" kern="1200" dirty="0"/>
            <a:t> Inferencing)</a:t>
          </a:r>
        </a:p>
      </dsp:txBody>
      <dsp:txXfrm>
        <a:off x="5741661" y="438759"/>
        <a:ext cx="1767433" cy="1178289"/>
      </dsp:txXfrm>
    </dsp:sp>
    <dsp:sp modelId="{31D4980A-FA63-4606-ABB2-23D02E4CD684}">
      <dsp:nvSpPr>
        <dsp:cNvPr id="0" name=""/>
        <dsp:cNvSpPr/>
      </dsp:nvSpPr>
      <dsp:spPr>
        <a:xfrm>
          <a:off x="7803666" y="438759"/>
          <a:ext cx="2945722" cy="1178289"/>
        </a:xfrm>
        <a:prstGeom prst="chevron">
          <a:avLst/>
        </a:prstGeom>
        <a:solidFill>
          <a:srgbClr val="578FF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Relay Cutoff </a:t>
          </a:r>
          <a:br>
            <a:rPr lang="en-IN" sz="2000" kern="1200" dirty="0"/>
          </a:br>
          <a:r>
            <a:rPr lang="en-IN" sz="2000" kern="1200" dirty="0"/>
            <a:t>(Millisecond Action)</a:t>
          </a:r>
        </a:p>
      </dsp:txBody>
      <dsp:txXfrm>
        <a:off x="8392811" y="438759"/>
        <a:ext cx="1767433" cy="117828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6D69E395-B30E-449D-911C-16C5643E5ECF}" type="datetimeFigureOut">
              <a:rPr lang="en-IN" smtClean="0"/>
              <a:t>08-03-2026</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3151312F-03B1-4FE3-BC10-F96F0FA4959A}" type="slidenum">
              <a:rPr lang="en-IN" smtClean="0"/>
              <a:t>‹#›</a:t>
            </a:fld>
            <a:endParaRPr lang="en-IN"/>
          </a:p>
        </p:txBody>
      </p:sp>
    </p:spTree>
    <p:extLst>
      <p:ext uri="{BB962C8B-B14F-4D97-AF65-F5344CB8AC3E}">
        <p14:creationId xmlns:p14="http://schemas.microsoft.com/office/powerpoint/2010/main" val="2247995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9E395-B30E-449D-911C-16C5643E5ECF}"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61086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69E395-B30E-449D-911C-16C5643E5ECF}"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193771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69E395-B30E-449D-911C-16C5643E5ECF}"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2153892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69E395-B30E-449D-911C-16C5643E5ECF}"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1296785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69E395-B30E-449D-911C-16C5643E5ECF}"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3082881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69E395-B30E-449D-911C-16C5643E5ECF}"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4217205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D69E395-B30E-449D-911C-16C5643E5ECF}"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3151312F-03B1-4FE3-BC10-F96F0FA4959A}" type="slidenum">
              <a:rPr lang="en-IN" smtClean="0"/>
              <a:t>‹#›</a:t>
            </a:fld>
            <a:endParaRPr lang="en-IN"/>
          </a:p>
        </p:txBody>
      </p:sp>
    </p:spTree>
    <p:extLst>
      <p:ext uri="{BB962C8B-B14F-4D97-AF65-F5344CB8AC3E}">
        <p14:creationId xmlns:p14="http://schemas.microsoft.com/office/powerpoint/2010/main" val="340224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6D69E395-B30E-449D-911C-16C5643E5ECF}" type="datetimeFigureOut">
              <a:rPr lang="en-IN" smtClean="0"/>
              <a:t>08-03-2026</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3151312F-03B1-4FE3-BC10-F96F0FA4959A}" type="slidenum">
              <a:rPr lang="en-IN" smtClean="0"/>
              <a:t>‹#›</a:t>
            </a:fld>
            <a:endParaRPr lang="en-IN"/>
          </a:p>
        </p:txBody>
      </p:sp>
    </p:spTree>
    <p:extLst>
      <p:ext uri="{BB962C8B-B14F-4D97-AF65-F5344CB8AC3E}">
        <p14:creationId xmlns:p14="http://schemas.microsoft.com/office/powerpoint/2010/main" val="267389984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9E395-B30E-449D-911C-16C5643E5ECF}"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3786904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9E395-B30E-449D-911C-16C5643E5ECF}"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51312F-03B1-4FE3-BC10-F96F0FA4959A}" type="slidenum">
              <a:rPr lang="en-IN" smtClean="0"/>
              <a:t>‹#›</a:t>
            </a:fld>
            <a:endParaRPr lang="en-IN"/>
          </a:p>
        </p:txBody>
      </p:sp>
    </p:spTree>
    <p:extLst>
      <p:ext uri="{BB962C8B-B14F-4D97-AF65-F5344CB8AC3E}">
        <p14:creationId xmlns:p14="http://schemas.microsoft.com/office/powerpoint/2010/main" val="2549547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6D69E395-B30E-449D-911C-16C5643E5ECF}" type="datetimeFigureOut">
              <a:rPr lang="en-IN" smtClean="0"/>
              <a:t>08-03-2026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3151312F-03B1-4FE3-BC10-F96F0FA4959A}" type="slidenum">
              <a:rPr lang="en-IN" smtClean="0"/>
              <a:t>‹#›</a:t>
            </a:fld>
            <a:endParaRPr lang="en-IN"/>
          </a:p>
        </p:txBody>
      </p:sp>
    </p:spTree>
    <p:extLst>
      <p:ext uri="{BB962C8B-B14F-4D97-AF65-F5344CB8AC3E}">
        <p14:creationId xmlns:p14="http://schemas.microsoft.com/office/powerpoint/2010/main" val="4265031318"/>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Layout" Target="../diagrams/layout2.xml"/><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image" Target="../media/image10.png"/><Relationship Id="rId5" Type="http://schemas.openxmlformats.org/officeDocument/2006/relationships/diagramColors" Target="../diagrams/colors2.xml"/><Relationship Id="rId10" Type="http://schemas.openxmlformats.org/officeDocument/2006/relationships/image" Target="../media/image9.svg"/><Relationship Id="rId4" Type="http://schemas.openxmlformats.org/officeDocument/2006/relationships/diagramQuickStyle" Target="../diagrams/quickStyle2.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13.svg"/><Relationship Id="rId7" Type="http://schemas.openxmlformats.org/officeDocument/2006/relationships/image" Target="../media/image17.sv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5" Type="http://schemas.openxmlformats.org/officeDocument/2006/relationships/image" Target="../media/image2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40D31AF-EE46-F1D6-3189-6A1A7D005969}"/>
              </a:ext>
            </a:extLst>
          </p:cNvPr>
          <p:cNvSpPr txBox="1"/>
          <p:nvPr/>
        </p:nvSpPr>
        <p:spPr>
          <a:xfrm>
            <a:off x="537028" y="449942"/>
            <a:ext cx="6640286" cy="1631216"/>
          </a:xfrm>
          <a:prstGeom prst="rect">
            <a:avLst/>
          </a:prstGeom>
          <a:noFill/>
        </p:spPr>
        <p:txBody>
          <a:bodyPr wrap="square" rtlCol="0">
            <a:spAutoFit/>
          </a:bodyPr>
          <a:lstStyle/>
          <a:p>
            <a:r>
              <a:rPr lang="en-US" sz="10000" dirty="0">
                <a:solidFill>
                  <a:schemeClr val="bg1"/>
                </a:solidFill>
                <a:latin typeface="Aharoni" panose="02010803020104030203" pitchFamily="2" charset="-79"/>
                <a:cs typeface="Aharoni" panose="02010803020104030203" pitchFamily="2" charset="-79"/>
              </a:rPr>
              <a:t>SpinSafe</a:t>
            </a:r>
            <a:endParaRPr lang="en-IN" sz="10000" dirty="0">
              <a:solidFill>
                <a:schemeClr val="bg1"/>
              </a:solidFill>
              <a:latin typeface="Aharoni" panose="02010803020104030203" pitchFamily="2" charset="-79"/>
              <a:cs typeface="Aharoni" panose="02010803020104030203" pitchFamily="2" charset="-79"/>
            </a:endParaRPr>
          </a:p>
        </p:txBody>
      </p:sp>
      <p:pic>
        <p:nvPicPr>
          <p:cNvPr id="22" name="Picture 21">
            <a:extLst>
              <a:ext uri="{FF2B5EF4-FFF2-40B4-BE49-F238E27FC236}">
                <a16:creationId xmlns:a16="http://schemas.microsoft.com/office/drawing/2014/main" id="{8CE1C3B6-0FEB-E9B2-67F3-5501B608AC3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615" b="99476" l="98" r="99805">
                        <a14:foregroundMark x1="195" y1="83042" x2="18164" y2="81993"/>
                        <a14:foregroundMark x1="18164" y1="81993" x2="42188" y2="82343"/>
                        <a14:foregroundMark x1="42188" y1="82343" x2="46257" y2="81797"/>
                        <a14:foregroundMark x1="67595" y1="86088" x2="71289" y2="98252"/>
                        <a14:foregroundMark x1="71289" y1="98252" x2="71387" y2="99650"/>
                        <a14:foregroundMark x1="9570" y1="83217" x2="195" y2="81993"/>
                        <a14:foregroundMark x1="391" y1="83042" x2="17578" y2="92657"/>
                        <a14:foregroundMark x1="17578" y1="92657" x2="21094" y2="99301"/>
                        <a14:foregroundMark x1="88086" y1="67483" x2="92208" y2="75335"/>
                        <a14:foregroundMark x1="96480" y1="81993" x2="99805" y2="81993"/>
                        <a14:foregroundMark x1="96136" y1="81993" x2="96270" y2="81993"/>
                        <a14:foregroundMark x1="83301" y1="58042" x2="79732" y2="55913"/>
                        <a14:foregroundMark x1="80560" y1="58217" x2="83105" y2="58217"/>
                        <a14:foregroundMark x1="45313" y1="81818" x2="57031" y2="82867"/>
                        <a14:foregroundMark x1="57031" y1="82867" x2="60156" y2="82692"/>
                        <a14:foregroundMark x1="44141" y1="82692" x2="48926" y2="83042"/>
                        <a14:foregroundMark x1="65625" y1="82517" x2="67969" y2="82343"/>
                        <a14:foregroundMark x1="94043" y1="82867" x2="99023" y2="83217"/>
                        <a14:backgroundMark x1="66123" y1="81081" x2="60617" y2="81369"/>
                        <a14:backgroundMark x1="68750" y1="80944" x2="68448" y2="80960"/>
                        <a14:backgroundMark x1="61672" y1="78344" x2="66211" y2="78497"/>
                        <a14:backgroundMark x1="66211" y1="78497" x2="66561" y2="79818"/>
                        <a14:backgroundMark x1="95029" y1="80163" x2="92383" y2="76049"/>
                        <a14:backgroundMark x1="92383" y1="76049" x2="95029" y2="80163"/>
                        <a14:backgroundMark x1="84766" y1="61888" x2="84475" y2="62018"/>
                        <a14:backgroundMark x1="83008" y1="65035" x2="83105" y2="65210"/>
                        <a14:backgroundMark x1="79492" y1="55245" x2="73145" y2="55420"/>
                        <a14:backgroundMark x1="73438" y1="56469" x2="73047" y2="56119"/>
                      </a14:backgroundRemoval>
                    </a14:imgEffect>
                  </a14:imgLayer>
                </a14:imgProps>
              </a:ext>
            </a:extLst>
          </a:blip>
          <a:srcRect t="50263" r="6250"/>
          <a:stretch>
            <a:fillRect/>
          </a:stretch>
        </p:blipFill>
        <p:spPr>
          <a:xfrm>
            <a:off x="0" y="4114800"/>
            <a:ext cx="12192000" cy="2743200"/>
          </a:xfrm>
          <a:prstGeom prst="rect">
            <a:avLst/>
          </a:prstGeom>
        </p:spPr>
      </p:pic>
      <p:sp>
        <p:nvSpPr>
          <p:cNvPr id="24" name="TextBox 23">
            <a:extLst>
              <a:ext uri="{FF2B5EF4-FFF2-40B4-BE49-F238E27FC236}">
                <a16:creationId xmlns:a16="http://schemas.microsoft.com/office/drawing/2014/main" id="{599E6029-01D7-DC06-150A-CD2435AE8547}"/>
              </a:ext>
            </a:extLst>
          </p:cNvPr>
          <p:cNvSpPr txBox="1"/>
          <p:nvPr/>
        </p:nvSpPr>
        <p:spPr>
          <a:xfrm>
            <a:off x="653142" y="2079516"/>
            <a:ext cx="7237185" cy="430887"/>
          </a:xfrm>
          <a:prstGeom prst="rect">
            <a:avLst/>
          </a:prstGeom>
          <a:noFill/>
        </p:spPr>
        <p:txBody>
          <a:bodyPr wrap="square">
            <a:spAutoFit/>
          </a:bodyPr>
          <a:lstStyle/>
          <a:p>
            <a:r>
              <a:rPr lang="en-US" sz="2200" b="1" dirty="0">
                <a:solidFill>
                  <a:srgbClr val="002060"/>
                </a:solidFill>
                <a:latin typeface="Segoe UI Variable Small Semibol" pitchFamily="2" charset="0"/>
              </a:rPr>
              <a:t>Autonomous Edge-AI Guardian for Industrial Motors</a:t>
            </a:r>
            <a:endParaRPr lang="en-IN" sz="2200" b="1" dirty="0">
              <a:solidFill>
                <a:srgbClr val="002060"/>
              </a:solidFill>
              <a:latin typeface="Segoe UI Variable Small Semibol" pitchFamily="2" charset="0"/>
            </a:endParaRPr>
          </a:p>
        </p:txBody>
      </p:sp>
      <p:sp>
        <p:nvSpPr>
          <p:cNvPr id="26" name="TextBox 25">
            <a:extLst>
              <a:ext uri="{FF2B5EF4-FFF2-40B4-BE49-F238E27FC236}">
                <a16:creationId xmlns:a16="http://schemas.microsoft.com/office/drawing/2014/main" id="{1B72C158-CE3A-FD4C-BD6C-FE13F97CA14E}"/>
              </a:ext>
            </a:extLst>
          </p:cNvPr>
          <p:cNvSpPr txBox="1"/>
          <p:nvPr/>
        </p:nvSpPr>
        <p:spPr>
          <a:xfrm>
            <a:off x="157843" y="6008078"/>
            <a:ext cx="2454728" cy="369332"/>
          </a:xfrm>
          <a:prstGeom prst="rect">
            <a:avLst/>
          </a:prstGeom>
          <a:noFill/>
        </p:spPr>
        <p:txBody>
          <a:bodyPr wrap="square">
            <a:spAutoFit/>
          </a:bodyPr>
          <a:lstStyle/>
          <a:p>
            <a:r>
              <a:rPr lang="en-US" b="1" dirty="0">
                <a:solidFill>
                  <a:schemeClr val="bg1"/>
                </a:solidFill>
                <a:latin typeface="Segoe UI Semibold" panose="020B0702040204020203" pitchFamily="34" charset="0"/>
                <a:cs typeface="Segoe UI Semibold" panose="020B0702040204020203" pitchFamily="34" charset="0"/>
              </a:rPr>
              <a:t>Team: Electrophoenix</a:t>
            </a:r>
            <a:endParaRPr lang="en-IN" b="1" dirty="0">
              <a:solidFill>
                <a:schemeClr val="bg1"/>
              </a:solidFill>
              <a:latin typeface="Segoe UI Semibold" panose="020B0702040204020203" pitchFamily="34" charset="0"/>
              <a:cs typeface="Segoe UI Semibold" panose="020B0702040204020203" pitchFamily="34" charset="0"/>
            </a:endParaRPr>
          </a:p>
        </p:txBody>
      </p:sp>
      <p:sp>
        <p:nvSpPr>
          <p:cNvPr id="28" name="TextBox 27">
            <a:extLst>
              <a:ext uri="{FF2B5EF4-FFF2-40B4-BE49-F238E27FC236}">
                <a16:creationId xmlns:a16="http://schemas.microsoft.com/office/drawing/2014/main" id="{17330030-3087-100F-47DC-F6182FDBCB9C}"/>
              </a:ext>
            </a:extLst>
          </p:cNvPr>
          <p:cNvSpPr txBox="1"/>
          <p:nvPr/>
        </p:nvSpPr>
        <p:spPr>
          <a:xfrm>
            <a:off x="157843" y="6377410"/>
            <a:ext cx="2360385" cy="369332"/>
          </a:xfrm>
          <a:prstGeom prst="rect">
            <a:avLst/>
          </a:prstGeom>
          <a:noFill/>
        </p:spPr>
        <p:txBody>
          <a:bodyPr wrap="square">
            <a:spAutoFit/>
          </a:bodyPr>
          <a:lstStyle/>
          <a:p>
            <a:r>
              <a:rPr lang="en-US" b="1" dirty="0">
                <a:solidFill>
                  <a:schemeClr val="bg1"/>
                </a:solidFill>
                <a:latin typeface="Segoe UI Semibold" panose="020B0702040204020203" pitchFamily="34" charset="0"/>
                <a:cs typeface="Segoe UI Semibold" panose="020B0702040204020203" pitchFamily="34" charset="0"/>
              </a:rPr>
              <a:t>Track: Slash (Open) </a:t>
            </a:r>
            <a:endParaRPr lang="en-IN" dirty="0"/>
          </a:p>
        </p:txBody>
      </p:sp>
      <p:pic>
        <p:nvPicPr>
          <p:cNvPr id="1038" name="Picture 14">
            <a:extLst>
              <a:ext uri="{FF2B5EF4-FFF2-40B4-BE49-F238E27FC236}">
                <a16:creationId xmlns:a16="http://schemas.microsoft.com/office/drawing/2014/main" id="{5C5E255E-92AC-002C-60D5-8B99C738D7A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3125" b="95156" l="3594" r="98125">
                        <a14:foregroundMark x1="53594" y1="3906" x2="41719" y2="3594"/>
                        <a14:foregroundMark x1="41719" y1="3594" x2="31563" y2="6875"/>
                        <a14:foregroundMark x1="31563" y1="6875" x2="25156" y2="15625"/>
                        <a14:foregroundMark x1="25156" y1="15625" x2="48594" y2="7187"/>
                        <a14:foregroundMark x1="48594" y1="7187" x2="51875" y2="4063"/>
                        <a14:foregroundMark x1="23594" y1="14375" x2="16875" y2="20000"/>
                        <a14:foregroundMark x1="16875" y1="20000" x2="6250" y2="41719"/>
                        <a14:foregroundMark x1="6250" y1="41719" x2="5781" y2="52031"/>
                        <a14:foregroundMark x1="5781" y1="52031" x2="25938" y2="30156"/>
                        <a14:foregroundMark x1="25938" y1="30156" x2="26406" y2="20156"/>
                        <a14:foregroundMark x1="26406" y1="20156" x2="22656" y2="15781"/>
                        <a14:foregroundMark x1="11719" y1="39531" x2="7344" y2="46094"/>
                        <a14:foregroundMark x1="7344" y1="46094" x2="6563" y2="54688"/>
                        <a14:foregroundMark x1="6563" y1="54688" x2="10313" y2="66719"/>
                        <a14:foregroundMark x1="10313" y1="66719" x2="17656" y2="75469"/>
                        <a14:foregroundMark x1="17656" y1="75469" x2="23125" y2="53438"/>
                        <a14:foregroundMark x1="23125" y1="53438" x2="18438" y2="43281"/>
                        <a14:foregroundMark x1="18438" y1="43281" x2="12031" y2="42031"/>
                        <a14:foregroundMark x1="5625" y1="42969" x2="3594" y2="50781"/>
                        <a14:foregroundMark x1="3594" y1="50781" x2="8906" y2="73281"/>
                        <a14:foregroundMark x1="8906" y1="73281" x2="16250" y2="81563"/>
                        <a14:foregroundMark x1="16250" y1="81563" x2="19063" y2="68281"/>
                        <a14:foregroundMark x1="19063" y1="68281" x2="9844" y2="47031"/>
                        <a14:foregroundMark x1="9844" y1="47031" x2="6094" y2="44063"/>
                        <a14:foregroundMark x1="51250" y1="3281" x2="71875" y2="11094"/>
                        <a14:foregroundMark x1="71875" y1="11094" x2="81406" y2="17188"/>
                        <a14:foregroundMark x1="81406" y1="17188" x2="92500" y2="36719"/>
                        <a14:foregroundMark x1="92500" y1="36719" x2="94063" y2="53125"/>
                        <a14:foregroundMark x1="94063" y1="53125" x2="90781" y2="61406"/>
                        <a14:foregroundMark x1="90781" y1="61406" x2="81250" y2="51875"/>
                        <a14:foregroundMark x1="81250" y1="51875" x2="51563" y2="7500"/>
                        <a14:foregroundMark x1="51563" y1="7500" x2="51406" y2="3281"/>
                        <a14:foregroundMark x1="91719" y1="30625" x2="82656" y2="68438"/>
                        <a14:foregroundMark x1="82656" y1="68438" x2="69375" y2="80781"/>
                        <a14:foregroundMark x1="69375" y1="80781" x2="31875" y2="87031"/>
                        <a14:foregroundMark x1="31875" y1="87031" x2="40938" y2="95156"/>
                        <a14:foregroundMark x1="40938" y1="95156" x2="64375" y2="91250"/>
                        <a14:foregroundMark x1="64375" y1="91250" x2="74063" y2="86094"/>
                        <a14:foregroundMark x1="74063" y1="86094" x2="90000" y2="62031"/>
                        <a14:foregroundMark x1="90000" y1="62031" x2="93281" y2="39375"/>
                        <a14:foregroundMark x1="93281" y1="39375" x2="90625" y2="32969"/>
                        <a14:foregroundMark x1="92500" y1="28438" x2="90781" y2="38594"/>
                        <a14:foregroundMark x1="90781" y1="38594" x2="93750" y2="48906"/>
                        <a14:foregroundMark x1="93750" y1="48906" x2="97500" y2="41875"/>
                        <a14:foregroundMark x1="97500" y1="41875" x2="92500" y2="28594"/>
                        <a14:foregroundMark x1="97031" y1="49063" x2="97188" y2="59219"/>
                        <a14:foregroundMark x1="97188" y1="59219" x2="98125" y2="49375"/>
                        <a14:foregroundMark x1="98125" y1="49375" x2="97188" y2="49063"/>
                        <a14:foregroundMark x1="70781" y1="91563" x2="29688" y2="91406"/>
                        <a14:foregroundMark x1="29688" y1="91406" x2="37188" y2="97344"/>
                        <a14:foregroundMark x1="37188" y1="97344" x2="47500" y2="98594"/>
                        <a14:foregroundMark x1="47500" y1="98594" x2="56563" y2="98438"/>
                        <a14:foregroundMark x1="56563" y1="98438" x2="66406" y2="95156"/>
                        <a14:foregroundMark x1="66406" y1="95156" x2="71406" y2="91719"/>
                        <a14:foregroundMark x1="21563" y1="76094" x2="15156" y2="81719"/>
                        <a14:foregroundMark x1="15156" y1="81719" x2="22500" y2="88281"/>
                        <a14:foregroundMark x1="22500" y1="88281" x2="23594" y2="78125"/>
                        <a14:foregroundMark x1="23594" y1="78125" x2="21094" y2="76250"/>
                        <a14:foregroundMark x1="54063" y1="47500" x2="43906" y2="56094"/>
                        <a14:foregroundMark x1="43906" y1="56094" x2="41094" y2="66875"/>
                        <a14:foregroundMark x1="41094" y1="66875" x2="50625" y2="75625"/>
                        <a14:foregroundMark x1="50625" y1="75625" x2="60313" y2="67813"/>
                        <a14:foregroundMark x1="60313" y1="67813" x2="59219" y2="55937"/>
                        <a14:foregroundMark x1="59219" y1="55937" x2="52344" y2="47813"/>
                        <a14:foregroundMark x1="52344" y1="47813" x2="51563" y2="47656"/>
                        <a14:foregroundMark x1="56875" y1="51563" x2="42500" y2="65625"/>
                        <a14:foregroundMark x1="42500" y1="65625" x2="46250" y2="78438"/>
                        <a14:foregroundMark x1="46250" y1="78438" x2="58281" y2="65781"/>
                        <a14:foregroundMark x1="58281" y1="65781" x2="57500" y2="48594"/>
                        <a14:foregroundMark x1="57500" y1="48594" x2="54844" y2="48438"/>
                        <a14:foregroundMark x1="56094" y1="54063" x2="43281" y2="62813"/>
                        <a14:foregroundMark x1="43281" y1="62813" x2="48906" y2="72344"/>
                        <a14:foregroundMark x1="48906" y1="72344" x2="57656" y2="70469"/>
                        <a14:foregroundMark x1="57656" y1="70469" x2="57656" y2="57656"/>
                        <a14:foregroundMark x1="57656" y1="57656" x2="54688" y2="55000"/>
                        <a14:foregroundMark x1="56563" y1="57031" x2="40313" y2="65156"/>
                        <a14:foregroundMark x1="40313" y1="65156" x2="51094" y2="75938"/>
                        <a14:foregroundMark x1="51094" y1="75938" x2="56875" y2="66875"/>
                        <a14:foregroundMark x1="56875" y1="66875" x2="57344" y2="57188"/>
                        <a14:foregroundMark x1="57344" y1="57188" x2="56406" y2="56719"/>
                        <a14:foregroundMark x1="56406" y1="58906" x2="44063" y2="63594"/>
                        <a14:foregroundMark x1="44063" y1="63594" x2="51250" y2="70000"/>
                        <a14:foregroundMark x1="51250" y1="70000" x2="57813" y2="61875"/>
                        <a14:foregroundMark x1="57813" y1="61875" x2="54688" y2="58750"/>
                        <a14:foregroundMark x1="59844" y1="66250" x2="61094" y2="75469"/>
                        <a14:foregroundMark x1="61094" y1="75469" x2="61094" y2="66563"/>
                        <a14:foregroundMark x1="61094" y1="66563" x2="60625" y2="66875"/>
                        <a14:foregroundMark x1="78281" y1="50469" x2="60625" y2="51563"/>
                        <a14:foregroundMark x1="60625" y1="51563" x2="63750" y2="70781"/>
                        <a14:foregroundMark x1="63750" y1="70781" x2="70625" y2="74688"/>
                        <a14:foregroundMark x1="70625" y1="74688" x2="79531" y2="71719"/>
                        <a14:foregroundMark x1="79531" y1="71719" x2="76875" y2="51250"/>
                        <a14:foregroundMark x1="76875" y1="51250" x2="76250" y2="51094"/>
                        <a14:foregroundMark x1="75625" y1="54531" x2="62031" y2="53750"/>
                        <a14:foregroundMark x1="62031" y1="53750" x2="64375" y2="65469"/>
                        <a14:foregroundMark x1="64375" y1="65469" x2="71719" y2="73281"/>
                        <a14:foregroundMark x1="71719" y1="73281" x2="77500" y2="61094"/>
                        <a14:foregroundMark x1="77500" y1="61094" x2="74219" y2="54531"/>
                        <a14:foregroundMark x1="80313" y1="82500" x2="69375" y2="86250"/>
                        <a14:foregroundMark x1="69375" y1="86250" x2="72031" y2="94531"/>
                        <a14:foregroundMark x1="72031" y1="94531" x2="79063" y2="88906"/>
                        <a14:foregroundMark x1="79063" y1="88906" x2="78125" y2="82813"/>
                        <a14:foregroundMark x1="83594" y1="15937" x2="90313" y2="25625"/>
                        <a14:foregroundMark x1="90313" y1="25625" x2="81875" y2="18750"/>
                        <a14:foregroundMark x1="81875" y1="18750" x2="84219" y2="17031"/>
                      </a14:backgroundRemoval>
                    </a14:imgEffect>
                  </a14:imgLayer>
                </a14:imgProps>
              </a:ext>
              <a:ext uri="{28A0092B-C50C-407E-A947-70E740481C1C}">
                <a14:useLocalDpi xmlns:a14="http://schemas.microsoft.com/office/drawing/2010/main" val="0"/>
              </a:ext>
            </a:extLst>
          </a:blip>
          <a:srcRect/>
          <a:stretch>
            <a:fillRect/>
          </a:stretch>
        </p:blipFill>
        <p:spPr bwMode="auto">
          <a:xfrm>
            <a:off x="11034485" y="221344"/>
            <a:ext cx="889000" cy="8890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5DFC6854-6093-76EA-306A-3EE95E3A59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40522" y="221344"/>
            <a:ext cx="911952" cy="889000"/>
          </a:xfrm>
          <a:prstGeom prst="rect">
            <a:avLst/>
          </a:prstGeom>
        </p:spPr>
      </p:pic>
    </p:spTree>
    <p:extLst>
      <p:ext uri="{BB962C8B-B14F-4D97-AF65-F5344CB8AC3E}">
        <p14:creationId xmlns:p14="http://schemas.microsoft.com/office/powerpoint/2010/main" val="69568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4B774-F396-A606-C24A-627BC41C2320}"/>
              </a:ext>
            </a:extLst>
          </p:cNvPr>
          <p:cNvSpPr>
            <a:spLocks noGrp="1"/>
          </p:cNvSpPr>
          <p:nvPr>
            <p:ph type="title"/>
          </p:nvPr>
        </p:nvSpPr>
        <p:spPr>
          <a:xfrm>
            <a:off x="352424" y="310846"/>
            <a:ext cx="6919233" cy="857553"/>
          </a:xfrm>
        </p:spPr>
        <p:txBody>
          <a:bodyPr>
            <a:normAutofit/>
          </a:bodyPr>
          <a:lstStyle/>
          <a:p>
            <a:r>
              <a:rPr lang="en-IN" sz="4000" dirty="0">
                <a:solidFill>
                  <a:schemeClr val="bg1"/>
                </a:solidFill>
                <a:latin typeface="Segoe UI Semibold" panose="020B0702040204020203" pitchFamily="34" charset="0"/>
                <a:cs typeface="Segoe UI Semibold" panose="020B0702040204020203" pitchFamily="34" charset="0"/>
              </a:rPr>
              <a:t>The Cost of Sloth Intelligence</a:t>
            </a:r>
          </a:p>
        </p:txBody>
      </p:sp>
      <p:sp>
        <p:nvSpPr>
          <p:cNvPr id="3" name="Content Placeholder 2">
            <a:extLst>
              <a:ext uri="{FF2B5EF4-FFF2-40B4-BE49-F238E27FC236}">
                <a16:creationId xmlns:a16="http://schemas.microsoft.com/office/drawing/2014/main" id="{AF294BA3-BE19-6BF7-09CD-6112F41461A2}"/>
              </a:ext>
            </a:extLst>
          </p:cNvPr>
          <p:cNvSpPr>
            <a:spLocks noGrp="1"/>
          </p:cNvSpPr>
          <p:nvPr>
            <p:ph idx="1"/>
          </p:nvPr>
        </p:nvSpPr>
        <p:spPr>
          <a:xfrm>
            <a:off x="351336" y="2141039"/>
            <a:ext cx="5218884" cy="3766185"/>
          </a:xfrm>
        </p:spPr>
        <p:txBody>
          <a:bodyPr>
            <a:normAutofit/>
          </a:bodyPr>
          <a:lstStyle/>
          <a:p>
            <a:pPr lvl="1">
              <a:buFont typeface="Wingdings" panose="05000000000000000000" pitchFamily="2" charset="2"/>
              <a:buChar char="§"/>
            </a:pPr>
            <a:r>
              <a:rPr lang="en-US" sz="1500" b="1" dirty="0">
                <a:solidFill>
                  <a:schemeClr val="bg1"/>
                </a:solidFill>
                <a:latin typeface="Segoe UI" panose="020B0502040204020203" pitchFamily="34" charset="0"/>
                <a:cs typeface="Segoe UI" panose="020B0502040204020203" pitchFamily="34" charset="0"/>
              </a:rPr>
              <a:t>The "Fast but Dumb" Baseline:</a:t>
            </a:r>
            <a:r>
              <a:rPr lang="en-US" sz="1500" dirty="0">
                <a:solidFill>
                  <a:schemeClr val="bg1"/>
                </a:solidFill>
                <a:latin typeface="Segoe UI" panose="020B0502040204020203" pitchFamily="34" charset="0"/>
                <a:cs typeface="Segoe UI" panose="020B0502040204020203" pitchFamily="34" charset="0"/>
              </a:rPr>
              <a:t> Traditional hardwired PLCs react to danger in milliseconds, but only using rigid, single-variable thresholds. They cannot detect the complex, multi-sensor anomalies (e.g., vibration + temperature spikes) that indicate a motor is </a:t>
            </a:r>
            <a:r>
              <a:rPr lang="en-US" sz="1500" i="1" dirty="0">
                <a:solidFill>
                  <a:schemeClr val="bg1"/>
                </a:solidFill>
                <a:latin typeface="Segoe UI" panose="020B0502040204020203" pitchFamily="34" charset="0"/>
                <a:cs typeface="Segoe UI" panose="020B0502040204020203" pitchFamily="34" charset="0"/>
              </a:rPr>
              <a:t>about</a:t>
            </a:r>
            <a:r>
              <a:rPr lang="en-US" sz="1500" dirty="0">
                <a:solidFill>
                  <a:schemeClr val="bg1"/>
                </a:solidFill>
                <a:latin typeface="Segoe UI" panose="020B0502040204020203" pitchFamily="34" charset="0"/>
                <a:cs typeface="Segoe UI" panose="020B0502040204020203" pitchFamily="34" charset="0"/>
              </a:rPr>
              <a:t> to fail.</a:t>
            </a:r>
            <a:br>
              <a:rPr lang="en-US" sz="1500" dirty="0">
                <a:solidFill>
                  <a:schemeClr val="bg1"/>
                </a:solidFill>
                <a:latin typeface="Segoe UI" panose="020B0502040204020203" pitchFamily="34" charset="0"/>
                <a:cs typeface="Segoe UI" panose="020B0502040204020203" pitchFamily="34" charset="0"/>
              </a:rPr>
            </a:br>
            <a:endParaRPr lang="en-US" sz="1500" dirty="0">
              <a:solidFill>
                <a:schemeClr val="bg1"/>
              </a:solidFill>
              <a:latin typeface="Segoe UI" panose="020B0502040204020203" pitchFamily="34" charset="0"/>
              <a:cs typeface="Segoe UI" panose="020B0502040204020203" pitchFamily="34" charset="0"/>
            </a:endParaRPr>
          </a:p>
          <a:p>
            <a:pPr lvl="1">
              <a:buFont typeface="Wingdings" panose="05000000000000000000" pitchFamily="2" charset="2"/>
              <a:buChar char="§"/>
            </a:pPr>
            <a:r>
              <a:rPr lang="en-US" sz="1500" b="1" dirty="0">
                <a:solidFill>
                  <a:schemeClr val="bg1"/>
                </a:solidFill>
                <a:latin typeface="Segoe UI" panose="020B0502040204020203" pitchFamily="34" charset="0"/>
                <a:cs typeface="Segoe UI" panose="020B0502040204020203" pitchFamily="34" charset="0"/>
              </a:rPr>
              <a:t>The "Sloth Intelligence" Trap: </a:t>
            </a:r>
            <a:r>
              <a:rPr lang="en-US" sz="1500" dirty="0">
                <a:solidFill>
                  <a:schemeClr val="bg1"/>
                </a:solidFill>
                <a:latin typeface="Segoe UI" panose="020B0502040204020203" pitchFamily="34" charset="0"/>
                <a:cs typeface="Segoe UI" panose="020B0502040204020203" pitchFamily="34" charset="0"/>
              </a:rPr>
              <a:t>Industry 4.0 relies on sending heavy sensor data to the Cloud for AI analysis. But network latency (500ms+) makes this "smart" system useless for autonomous, emergency shutdowns. By the time the cloud detects a stall, the motor is already burning.</a:t>
            </a:r>
            <a:endParaRPr lang="en-IN" sz="1500" dirty="0">
              <a:solidFill>
                <a:schemeClr val="bg1"/>
              </a:solidFill>
              <a:latin typeface="Segoe UI" panose="020B0502040204020203" pitchFamily="34" charset="0"/>
              <a:cs typeface="Segoe UI" panose="020B0502040204020203" pitchFamily="34" charset="0"/>
            </a:endParaRPr>
          </a:p>
        </p:txBody>
      </p:sp>
      <p:cxnSp>
        <p:nvCxnSpPr>
          <p:cNvPr id="7" name="Straight Connector 6">
            <a:extLst>
              <a:ext uri="{FF2B5EF4-FFF2-40B4-BE49-F238E27FC236}">
                <a16:creationId xmlns:a16="http://schemas.microsoft.com/office/drawing/2014/main" id="{30A5C2D7-9758-1E5E-3168-1D56D1E54388}"/>
              </a:ext>
            </a:extLst>
          </p:cNvPr>
          <p:cNvCxnSpPr>
            <a:cxnSpLocks/>
          </p:cNvCxnSpPr>
          <p:nvPr/>
        </p:nvCxnSpPr>
        <p:spPr>
          <a:xfrm>
            <a:off x="410481" y="1073451"/>
            <a:ext cx="65346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13E1B15-4726-510A-73E0-56165AB5D0F6}"/>
              </a:ext>
            </a:extLst>
          </p:cNvPr>
          <p:cNvSpPr txBox="1"/>
          <p:nvPr/>
        </p:nvSpPr>
        <p:spPr>
          <a:xfrm>
            <a:off x="52252" y="1426623"/>
            <a:ext cx="6096000" cy="523220"/>
          </a:xfrm>
          <a:prstGeom prst="rect">
            <a:avLst/>
          </a:prstGeom>
          <a:noFill/>
        </p:spPr>
        <p:txBody>
          <a:bodyPr wrap="square">
            <a:spAutoFit/>
          </a:bodyPr>
          <a:lstStyle/>
          <a:p>
            <a:pPr algn="ctr"/>
            <a:r>
              <a:rPr lang="en-US" sz="2800" b="1" dirty="0">
                <a:solidFill>
                  <a:srgbClr val="002060"/>
                </a:solidFill>
                <a:latin typeface="Segoe UI" panose="020B0502040204020203" pitchFamily="34" charset="0"/>
                <a:cs typeface="Segoe UI" panose="020B0502040204020203" pitchFamily="34" charset="0"/>
              </a:rPr>
              <a:t>Smart is useless if it's slow.</a:t>
            </a:r>
            <a:endParaRPr lang="en-IN" sz="2800" b="1" dirty="0">
              <a:solidFill>
                <a:srgbClr val="002060"/>
              </a:solidFill>
              <a:latin typeface="Segoe UI" panose="020B0502040204020203" pitchFamily="34" charset="0"/>
              <a:cs typeface="Segoe UI" panose="020B0502040204020203" pitchFamily="34" charset="0"/>
            </a:endParaRPr>
          </a:p>
        </p:txBody>
      </p:sp>
      <p:sp>
        <p:nvSpPr>
          <p:cNvPr id="6" name="Content Placeholder 2">
            <a:extLst>
              <a:ext uri="{FF2B5EF4-FFF2-40B4-BE49-F238E27FC236}">
                <a16:creationId xmlns:a16="http://schemas.microsoft.com/office/drawing/2014/main" id="{EDEE99FA-4DA7-01B5-F382-A8A1EA9A2C13}"/>
              </a:ext>
            </a:extLst>
          </p:cNvPr>
          <p:cNvSpPr txBox="1">
            <a:spLocks/>
          </p:cNvSpPr>
          <p:nvPr/>
        </p:nvSpPr>
        <p:spPr>
          <a:xfrm>
            <a:off x="5447211" y="2141038"/>
            <a:ext cx="6664325" cy="286057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lvl="1" eaLnBrk="0" fontAlgn="base" hangingPunct="0">
              <a:lnSpc>
                <a:spcPct val="100000"/>
              </a:lnSpc>
              <a:spcBef>
                <a:spcPct val="0"/>
              </a:spcBef>
              <a:spcAft>
                <a:spcPct val="0"/>
              </a:spcAft>
              <a:buFont typeface="Wingdings" panose="05000000000000000000" pitchFamily="2" charset="2"/>
              <a:buChar char="§"/>
            </a:pPr>
            <a:r>
              <a:rPr lang="en-US" altLang="en-US" sz="1500" b="1" dirty="0">
                <a:solidFill>
                  <a:schemeClr val="bg1"/>
                </a:solidFill>
                <a:latin typeface="Segoe UI" panose="020B0502040204020203" pitchFamily="34" charset="0"/>
                <a:cs typeface="Segoe UI" panose="020B0502040204020203" pitchFamily="34" charset="0"/>
              </a:rPr>
              <a:t>The Financial Bleed:</a:t>
            </a:r>
            <a:r>
              <a:rPr lang="en-US" altLang="en-US" sz="1500" dirty="0">
                <a:solidFill>
                  <a:schemeClr val="bg1"/>
                </a:solidFill>
                <a:latin typeface="Segoe UI" panose="020B0502040204020203" pitchFamily="34" charset="0"/>
                <a:cs typeface="Segoe UI" panose="020B0502040204020203" pitchFamily="34" charset="0"/>
              </a:rPr>
              <a:t> Unplanned industrial downtime costs manufacturers an average of </a:t>
            </a:r>
            <a:r>
              <a:rPr lang="en-US" altLang="en-US" sz="1500" b="1" dirty="0">
                <a:solidFill>
                  <a:schemeClr val="bg1"/>
                </a:solidFill>
                <a:latin typeface="Segoe UI" panose="020B0502040204020203" pitchFamily="34" charset="0"/>
                <a:cs typeface="Segoe UI" panose="020B0502040204020203" pitchFamily="34" charset="0"/>
              </a:rPr>
              <a:t>$22,000 per minute</a:t>
            </a:r>
            <a:r>
              <a:rPr lang="en-US" altLang="en-US" sz="1500" dirty="0">
                <a:solidFill>
                  <a:schemeClr val="bg1"/>
                </a:solidFill>
                <a:latin typeface="Segoe UI" panose="020B0502040204020203" pitchFamily="34" charset="0"/>
                <a:cs typeface="Segoe UI" panose="020B0502040204020203" pitchFamily="34" charset="0"/>
              </a:rPr>
              <a:t>. Waiting on cloud latency directly burns capital.</a:t>
            </a:r>
          </a:p>
          <a:p>
            <a:pPr lvl="1" eaLnBrk="0" fontAlgn="base" hangingPunct="0">
              <a:lnSpc>
                <a:spcPct val="100000"/>
              </a:lnSpc>
              <a:spcBef>
                <a:spcPct val="0"/>
              </a:spcBef>
              <a:spcAft>
                <a:spcPct val="0"/>
              </a:spcAft>
              <a:buFont typeface="Wingdings" panose="05000000000000000000" pitchFamily="2" charset="2"/>
              <a:buChar char="§"/>
            </a:pPr>
            <a:endParaRPr lang="en-US" altLang="en-US" sz="1500" dirty="0">
              <a:solidFill>
                <a:schemeClr val="bg1"/>
              </a:solidFill>
              <a:latin typeface="Segoe UI" panose="020B0502040204020203" pitchFamily="34" charset="0"/>
              <a:cs typeface="Segoe UI" panose="020B0502040204020203" pitchFamily="34" charset="0"/>
            </a:endParaRPr>
          </a:p>
          <a:p>
            <a:pPr lvl="1" eaLnBrk="0" fontAlgn="base" hangingPunct="0">
              <a:lnSpc>
                <a:spcPct val="100000"/>
              </a:lnSpc>
              <a:spcBef>
                <a:spcPct val="0"/>
              </a:spcBef>
              <a:spcAft>
                <a:spcPct val="0"/>
              </a:spcAft>
              <a:buFont typeface="Wingdings" panose="05000000000000000000" pitchFamily="2" charset="2"/>
              <a:buChar char="§"/>
            </a:pPr>
            <a:r>
              <a:rPr lang="en-US" altLang="en-US" sz="1500" b="1" dirty="0">
                <a:solidFill>
                  <a:schemeClr val="bg1"/>
                </a:solidFill>
                <a:latin typeface="Segoe UI" panose="020B0502040204020203" pitchFamily="34" charset="0"/>
                <a:cs typeface="Segoe UI" panose="020B0502040204020203" pitchFamily="34" charset="0"/>
              </a:rPr>
              <a:t>The Safety Hazard:</a:t>
            </a:r>
            <a:r>
              <a:rPr lang="en-US" altLang="en-US" sz="1500" dirty="0">
                <a:solidFill>
                  <a:schemeClr val="bg1"/>
                </a:solidFill>
                <a:latin typeface="Segoe UI" panose="020B0502040204020203" pitchFamily="34" charset="0"/>
                <a:cs typeface="Segoe UI" panose="020B0502040204020203" pitchFamily="34" charset="0"/>
              </a:rPr>
              <a:t> Catastrophic motor stalls create immediate physical risks (fires, shrapnel) for on-site personnel if not killed instantly.</a:t>
            </a:r>
          </a:p>
          <a:p>
            <a:pPr lvl="1" eaLnBrk="0" fontAlgn="base" hangingPunct="0">
              <a:lnSpc>
                <a:spcPct val="100000"/>
              </a:lnSpc>
              <a:spcBef>
                <a:spcPct val="0"/>
              </a:spcBef>
              <a:spcAft>
                <a:spcPct val="0"/>
              </a:spcAft>
              <a:buFont typeface="Wingdings" panose="05000000000000000000" pitchFamily="2" charset="2"/>
              <a:buChar char="§"/>
            </a:pPr>
            <a:endParaRPr lang="en-US" altLang="en-US" sz="1500" dirty="0">
              <a:solidFill>
                <a:schemeClr val="bg1"/>
              </a:solidFill>
              <a:latin typeface="Segoe UI" panose="020B0502040204020203" pitchFamily="34" charset="0"/>
              <a:cs typeface="Segoe UI" panose="020B0502040204020203" pitchFamily="34" charset="0"/>
            </a:endParaRPr>
          </a:p>
          <a:p>
            <a:pPr lvl="1" eaLnBrk="0" fontAlgn="base" hangingPunct="0">
              <a:lnSpc>
                <a:spcPct val="100000"/>
              </a:lnSpc>
              <a:spcBef>
                <a:spcPct val="0"/>
              </a:spcBef>
              <a:spcAft>
                <a:spcPct val="0"/>
              </a:spcAft>
              <a:buFont typeface="Wingdings" panose="05000000000000000000" pitchFamily="2" charset="2"/>
              <a:buChar char="§"/>
            </a:pPr>
            <a:r>
              <a:rPr lang="en-US" altLang="en-US" sz="1500" b="1" dirty="0">
                <a:solidFill>
                  <a:schemeClr val="bg1"/>
                </a:solidFill>
                <a:latin typeface="Segoe UI" panose="020B0502040204020203" pitchFamily="34" charset="0"/>
                <a:cs typeface="Segoe UI" panose="020B0502040204020203" pitchFamily="34" charset="0"/>
              </a:rPr>
              <a:t>The Legacy Gap:</a:t>
            </a:r>
            <a:r>
              <a:rPr lang="en-US" altLang="en-US" sz="1500" dirty="0">
                <a:solidFill>
                  <a:schemeClr val="bg1"/>
                </a:solidFill>
                <a:latin typeface="Segoe UI" panose="020B0502040204020203" pitchFamily="34" charset="0"/>
                <a:cs typeface="Segoe UI" panose="020B0502040204020203" pitchFamily="34" charset="0"/>
              </a:rPr>
              <a:t> Millions of legacy motors power the industrial world. Upgrading an entire factory to native "smart motors" is financially impossible. The industry desperately needs a cheap, retrofittable "brain."</a:t>
            </a:r>
          </a:p>
          <a:p>
            <a:pPr marL="0" indent="0">
              <a:buNone/>
            </a:pPr>
            <a:endParaRPr lang="en-IN" sz="1500" dirty="0">
              <a:solidFill>
                <a:schemeClr val="bg1"/>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997A6F46-6AAE-1167-833E-539EF2F69FBB}"/>
              </a:ext>
            </a:extLst>
          </p:cNvPr>
          <p:cNvSpPr txBox="1"/>
          <p:nvPr/>
        </p:nvSpPr>
        <p:spPr>
          <a:xfrm>
            <a:off x="5738994" y="1426623"/>
            <a:ext cx="6097088" cy="523220"/>
          </a:xfrm>
          <a:prstGeom prst="rect">
            <a:avLst/>
          </a:prstGeom>
          <a:noFill/>
        </p:spPr>
        <p:txBody>
          <a:bodyPr wrap="square">
            <a:spAutoFit/>
          </a:bodyPr>
          <a:lstStyle/>
          <a:p>
            <a:pPr algn="ctr"/>
            <a:r>
              <a:rPr lang="en-IN" sz="2800" b="1" dirty="0">
                <a:solidFill>
                  <a:srgbClr val="FFC000"/>
                </a:solidFill>
                <a:latin typeface="Segoe UI" panose="020B0502040204020203" pitchFamily="34" charset="0"/>
                <a:cs typeface="Segoe UI" panose="020B0502040204020203" pitchFamily="34" charset="0"/>
              </a:rPr>
              <a:t>Why We are Solving This</a:t>
            </a:r>
            <a:endParaRPr lang="en-IN" sz="2800" dirty="0"/>
          </a:p>
        </p:txBody>
      </p:sp>
      <p:graphicFrame>
        <p:nvGraphicFramePr>
          <p:cNvPr id="13" name="Diagram 12">
            <a:extLst>
              <a:ext uri="{FF2B5EF4-FFF2-40B4-BE49-F238E27FC236}">
                <a16:creationId xmlns:a16="http://schemas.microsoft.com/office/drawing/2014/main" id="{C8F41E72-4020-70A2-1A4D-BA427516BAE1}"/>
              </a:ext>
            </a:extLst>
          </p:cNvPr>
          <p:cNvGraphicFramePr/>
          <p:nvPr>
            <p:extLst>
              <p:ext uri="{D42A27DB-BD31-4B8C-83A1-F6EECF244321}">
                <p14:modId xmlns:p14="http://schemas.microsoft.com/office/powerpoint/2010/main" val="2204907027"/>
              </p:ext>
            </p:extLst>
          </p:nvPr>
        </p:nvGraphicFramePr>
        <p:xfrm>
          <a:off x="3609587" y="4823572"/>
          <a:ext cx="4970650" cy="19219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43CC9E4D-D8C2-2B1F-93DF-8F3EE6194268}"/>
              </a:ext>
            </a:extLst>
          </p:cNvPr>
          <p:cNvSpPr txBox="1"/>
          <p:nvPr/>
        </p:nvSpPr>
        <p:spPr>
          <a:xfrm>
            <a:off x="5770291" y="5430605"/>
            <a:ext cx="755922" cy="707886"/>
          </a:xfrm>
          <a:prstGeom prst="rect">
            <a:avLst/>
          </a:prstGeom>
          <a:noFill/>
        </p:spPr>
        <p:txBody>
          <a:bodyPr wrap="square" rtlCol="0">
            <a:spAutoFit/>
          </a:bodyPr>
          <a:lstStyle/>
          <a:p>
            <a:r>
              <a:rPr lang="en-US" sz="2000" dirty="0">
                <a:solidFill>
                  <a:srgbClr val="FFC000"/>
                </a:solidFill>
                <a:latin typeface="Aharoni" panose="02010803020104030203" pitchFamily="2" charset="-79"/>
                <a:cs typeface="Aharoni" panose="02010803020104030203" pitchFamily="2" charset="-79"/>
              </a:rPr>
              <a:t>SpinSafe</a:t>
            </a:r>
            <a:endParaRPr lang="en-IN" sz="2000" dirty="0">
              <a:solidFill>
                <a:srgbClr val="FFC000"/>
              </a:solidFill>
              <a:latin typeface="Aharoni" panose="02010803020104030203" pitchFamily="2" charset="-79"/>
              <a:cs typeface="Aharoni" panose="02010803020104030203" pitchFamily="2" charset="-79"/>
            </a:endParaRPr>
          </a:p>
        </p:txBody>
      </p:sp>
      <p:pic>
        <p:nvPicPr>
          <p:cNvPr id="5" name="Picture 4">
            <a:extLst>
              <a:ext uri="{FF2B5EF4-FFF2-40B4-BE49-F238E27FC236}">
                <a16:creationId xmlns:a16="http://schemas.microsoft.com/office/drawing/2014/main" id="{F9E32A22-097F-BC23-8AC1-F26606847892}"/>
              </a:ext>
            </a:extLst>
          </p:cNvPr>
          <p:cNvPicPr>
            <a:picLocks noChangeAspect="1"/>
          </p:cNvPicPr>
          <p:nvPr/>
        </p:nvPicPr>
        <p:blipFill>
          <a:blip r:embed="rId7"/>
          <a:srcRect l="8862" r="5960"/>
          <a:stretch>
            <a:fillRect/>
          </a:stretch>
        </p:blipFill>
        <p:spPr>
          <a:xfrm>
            <a:off x="652403" y="4933412"/>
            <a:ext cx="2656118" cy="1702272"/>
          </a:xfrm>
          <a:prstGeom prst="ellipse">
            <a:avLst/>
          </a:prstGeom>
          <a:ln w="3175"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a:extLst>
              <a:ext uri="{FF2B5EF4-FFF2-40B4-BE49-F238E27FC236}">
                <a16:creationId xmlns:a16="http://schemas.microsoft.com/office/drawing/2014/main" id="{5C664ADB-A7CA-F5E1-1C49-20B3B410D586}"/>
              </a:ext>
            </a:extLst>
          </p:cNvPr>
          <p:cNvPicPr>
            <a:picLocks noChangeAspect="1"/>
          </p:cNvPicPr>
          <p:nvPr/>
        </p:nvPicPr>
        <p:blipFill>
          <a:blip r:embed="rId8"/>
          <a:srcRect r="6563"/>
          <a:stretch>
            <a:fillRect/>
          </a:stretch>
        </p:blipFill>
        <p:spPr>
          <a:xfrm>
            <a:off x="8881303" y="4933412"/>
            <a:ext cx="2656118" cy="1656397"/>
          </a:xfrm>
          <a:prstGeom prst="ellipse">
            <a:avLst/>
          </a:prstGeom>
          <a:ln w="3175"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0838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a:extLst>
            <a:ext uri="{FF2B5EF4-FFF2-40B4-BE49-F238E27FC236}">
              <a16:creationId xmlns:a16="http://schemas.microsoft.com/office/drawing/2014/main" id="{AC2E19E2-E7BE-9ABC-A7D8-144125546C7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CD6207A-C2BF-DD17-BFA2-2C3412F9C57D}"/>
              </a:ext>
            </a:extLst>
          </p:cNvPr>
          <p:cNvSpPr/>
          <p:nvPr/>
        </p:nvSpPr>
        <p:spPr>
          <a:xfrm>
            <a:off x="410480" y="1426623"/>
            <a:ext cx="3450319" cy="3236819"/>
          </a:xfrm>
          <a:prstGeom prst="rect">
            <a:avLst/>
          </a:prstGeom>
          <a:solidFill>
            <a:srgbClr val="00206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494D72B-9042-B2DA-27D9-F9A1A3F25505}"/>
              </a:ext>
            </a:extLst>
          </p:cNvPr>
          <p:cNvSpPr/>
          <p:nvPr/>
        </p:nvSpPr>
        <p:spPr>
          <a:xfrm>
            <a:off x="4423092" y="1426621"/>
            <a:ext cx="3450319" cy="3236819"/>
          </a:xfrm>
          <a:prstGeom prst="rect">
            <a:avLst/>
          </a:prstGeom>
          <a:solidFill>
            <a:srgbClr val="00206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7DBDD2D-D91C-B22F-EF3C-8046E695B25D}"/>
              </a:ext>
            </a:extLst>
          </p:cNvPr>
          <p:cNvSpPr/>
          <p:nvPr/>
        </p:nvSpPr>
        <p:spPr>
          <a:xfrm>
            <a:off x="8464733" y="1426621"/>
            <a:ext cx="3450319" cy="3236819"/>
          </a:xfrm>
          <a:prstGeom prst="rect">
            <a:avLst/>
          </a:prstGeom>
          <a:solidFill>
            <a:srgbClr val="00206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93FC1B5-52BA-2E7A-69F2-E724F257954E}"/>
              </a:ext>
            </a:extLst>
          </p:cNvPr>
          <p:cNvSpPr>
            <a:spLocks noGrp="1"/>
          </p:cNvSpPr>
          <p:nvPr>
            <p:ph type="title"/>
          </p:nvPr>
        </p:nvSpPr>
        <p:spPr>
          <a:xfrm>
            <a:off x="276948" y="-297375"/>
            <a:ext cx="9372147" cy="1912118"/>
          </a:xfrm>
        </p:spPr>
        <p:txBody>
          <a:bodyPr>
            <a:normAutofit/>
          </a:bodyPr>
          <a:lstStyle/>
          <a:p>
            <a:r>
              <a:rPr lang="en-US" sz="4000" dirty="0">
                <a:solidFill>
                  <a:schemeClr val="bg1"/>
                </a:solidFill>
                <a:latin typeface="Segoe UI Semibold" panose="020B0702040204020203" pitchFamily="34" charset="0"/>
                <a:cs typeface="Segoe UI Semibold" panose="020B0702040204020203" pitchFamily="34" charset="0"/>
              </a:rPr>
              <a:t>The SpinSafe Approach : Edge Native AI</a:t>
            </a:r>
            <a:endParaRPr lang="en-IN" sz="4000" dirty="0">
              <a:solidFill>
                <a:schemeClr val="bg1"/>
              </a:solidFill>
              <a:latin typeface="Segoe UI Semibold" panose="020B0702040204020203" pitchFamily="34" charset="0"/>
              <a:cs typeface="Segoe UI Semibold" panose="020B0702040204020203" pitchFamily="34" charset="0"/>
            </a:endParaRPr>
          </a:p>
        </p:txBody>
      </p:sp>
      <p:cxnSp>
        <p:nvCxnSpPr>
          <p:cNvPr id="7" name="Straight Connector 6">
            <a:extLst>
              <a:ext uri="{FF2B5EF4-FFF2-40B4-BE49-F238E27FC236}">
                <a16:creationId xmlns:a16="http://schemas.microsoft.com/office/drawing/2014/main" id="{98E4987F-DFE3-8C39-D57C-37632A0A6AC1}"/>
              </a:ext>
            </a:extLst>
          </p:cNvPr>
          <p:cNvCxnSpPr>
            <a:cxnSpLocks/>
          </p:cNvCxnSpPr>
          <p:nvPr/>
        </p:nvCxnSpPr>
        <p:spPr>
          <a:xfrm>
            <a:off x="410481" y="1073451"/>
            <a:ext cx="65346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9358EED-7E84-05D4-2DC0-B0B86B15A9B5}"/>
              </a:ext>
            </a:extLst>
          </p:cNvPr>
          <p:cNvSpPr txBox="1"/>
          <p:nvPr/>
        </p:nvSpPr>
        <p:spPr>
          <a:xfrm>
            <a:off x="352424" y="1607990"/>
            <a:ext cx="3479346" cy="523220"/>
          </a:xfrm>
          <a:prstGeom prst="rect">
            <a:avLst/>
          </a:prstGeom>
          <a:noFill/>
        </p:spPr>
        <p:txBody>
          <a:bodyPr wrap="square">
            <a:spAutoFit/>
          </a:bodyPr>
          <a:lstStyle/>
          <a:p>
            <a:pPr algn="ctr"/>
            <a:r>
              <a:rPr lang="en-US" sz="2800" b="1" dirty="0">
                <a:solidFill>
                  <a:srgbClr val="FFC000"/>
                </a:solidFill>
                <a:latin typeface="Segoe UI" panose="020B0502040204020203" pitchFamily="34" charset="0"/>
                <a:cs typeface="Segoe UI" panose="020B0502040204020203" pitchFamily="34" charset="0"/>
              </a:rPr>
              <a:t>Sense </a:t>
            </a:r>
            <a:endParaRPr lang="en-IN" sz="2800" b="1" dirty="0">
              <a:solidFill>
                <a:srgbClr val="FFC000"/>
              </a:solidFill>
              <a:latin typeface="Segoe UI" panose="020B0502040204020203" pitchFamily="34" charset="0"/>
              <a:cs typeface="Segoe UI" panose="020B0502040204020203" pitchFamily="34" charset="0"/>
            </a:endParaRPr>
          </a:p>
        </p:txBody>
      </p:sp>
      <p:sp>
        <p:nvSpPr>
          <p:cNvPr id="15" name="Content Placeholder 2">
            <a:extLst>
              <a:ext uri="{FF2B5EF4-FFF2-40B4-BE49-F238E27FC236}">
                <a16:creationId xmlns:a16="http://schemas.microsoft.com/office/drawing/2014/main" id="{DE854608-8BA1-EF73-9681-6F77EE344A5C}"/>
              </a:ext>
            </a:extLst>
          </p:cNvPr>
          <p:cNvSpPr txBox="1">
            <a:spLocks/>
          </p:cNvSpPr>
          <p:nvPr/>
        </p:nvSpPr>
        <p:spPr>
          <a:xfrm>
            <a:off x="557322" y="2554968"/>
            <a:ext cx="4099650" cy="286057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4572" lvl="1" indent="0" eaLnBrk="0" fontAlgn="base" hangingPunct="0">
              <a:lnSpc>
                <a:spcPct val="100000"/>
              </a:lnSpc>
              <a:spcBef>
                <a:spcPct val="0"/>
              </a:spcBef>
              <a:spcAft>
                <a:spcPct val="0"/>
              </a:spcAft>
              <a:buNone/>
            </a:pPr>
            <a:endParaRPr lang="en-IN" sz="1500" dirty="0">
              <a:solidFill>
                <a:schemeClr val="bg1"/>
              </a:solidFill>
              <a:latin typeface="Segoe UI" panose="020B0502040204020203" pitchFamily="34" charset="0"/>
              <a:cs typeface="Segoe UI" panose="020B0502040204020203" pitchFamily="34" charset="0"/>
            </a:endParaRPr>
          </a:p>
        </p:txBody>
      </p:sp>
      <p:sp>
        <p:nvSpPr>
          <p:cNvPr id="16" name="Content Placeholder 2">
            <a:extLst>
              <a:ext uri="{FF2B5EF4-FFF2-40B4-BE49-F238E27FC236}">
                <a16:creationId xmlns:a16="http://schemas.microsoft.com/office/drawing/2014/main" id="{4F07260D-50F2-C554-28BE-3C1A56245D30}"/>
              </a:ext>
            </a:extLst>
          </p:cNvPr>
          <p:cNvSpPr txBox="1">
            <a:spLocks/>
          </p:cNvSpPr>
          <p:nvPr/>
        </p:nvSpPr>
        <p:spPr>
          <a:xfrm>
            <a:off x="736942" y="2312578"/>
            <a:ext cx="2826315" cy="286057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4572" lvl="1" indent="0" eaLnBrk="0" fontAlgn="base" hangingPunct="0">
              <a:lnSpc>
                <a:spcPct val="100000"/>
              </a:lnSpc>
              <a:spcBef>
                <a:spcPct val="0"/>
              </a:spcBef>
              <a:spcAft>
                <a:spcPct val="0"/>
              </a:spcAft>
              <a:buNone/>
            </a:pPr>
            <a:r>
              <a:rPr lang="en-US" sz="1500" dirty="0">
                <a:solidFill>
                  <a:schemeClr val="bg1"/>
                </a:solidFill>
                <a:latin typeface="Segoe UI" panose="020B0502040204020203" pitchFamily="34" charset="0"/>
                <a:cs typeface="Segoe UI" panose="020B0502040204020203" pitchFamily="34" charset="0"/>
              </a:rPr>
              <a:t>A retrofittable, robust sensor node mounts directly to the motor chassis. It continuously samples high-frequency vibration, current, and temperature data right from the metal.</a:t>
            </a:r>
            <a:endParaRPr lang="en-IN" sz="1500" dirty="0">
              <a:solidFill>
                <a:schemeClr val="bg1"/>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F697EF68-4F3E-E5B7-6C14-FF803E494E4B}"/>
              </a:ext>
            </a:extLst>
          </p:cNvPr>
          <p:cNvSpPr txBox="1"/>
          <p:nvPr/>
        </p:nvSpPr>
        <p:spPr>
          <a:xfrm>
            <a:off x="4506334" y="1607990"/>
            <a:ext cx="3479346" cy="523220"/>
          </a:xfrm>
          <a:prstGeom prst="rect">
            <a:avLst/>
          </a:prstGeom>
          <a:noFill/>
        </p:spPr>
        <p:txBody>
          <a:bodyPr wrap="square">
            <a:spAutoFit/>
          </a:bodyPr>
          <a:lstStyle/>
          <a:p>
            <a:pPr algn="ctr"/>
            <a:r>
              <a:rPr lang="en-US" sz="2800" b="1" dirty="0">
                <a:solidFill>
                  <a:srgbClr val="FFC000"/>
                </a:solidFill>
                <a:latin typeface="Segoe UI" panose="020B0502040204020203" pitchFamily="34" charset="0"/>
                <a:cs typeface="Segoe UI" panose="020B0502040204020203" pitchFamily="34" charset="0"/>
              </a:rPr>
              <a:t>Think </a:t>
            </a:r>
            <a:endParaRPr lang="en-IN" sz="2800" b="1" dirty="0">
              <a:solidFill>
                <a:srgbClr val="FFC000"/>
              </a:solidFill>
              <a:latin typeface="Segoe UI" panose="020B0502040204020203" pitchFamily="34" charset="0"/>
              <a:cs typeface="Segoe UI" panose="020B0502040204020203" pitchFamily="34" charset="0"/>
            </a:endParaRPr>
          </a:p>
        </p:txBody>
      </p:sp>
      <p:sp>
        <p:nvSpPr>
          <p:cNvPr id="19" name="Content Placeholder 2">
            <a:extLst>
              <a:ext uri="{FF2B5EF4-FFF2-40B4-BE49-F238E27FC236}">
                <a16:creationId xmlns:a16="http://schemas.microsoft.com/office/drawing/2014/main" id="{B606DE14-F5B6-088F-AA9D-5E083C298A8F}"/>
              </a:ext>
            </a:extLst>
          </p:cNvPr>
          <p:cNvSpPr txBox="1">
            <a:spLocks/>
          </p:cNvSpPr>
          <p:nvPr/>
        </p:nvSpPr>
        <p:spPr>
          <a:xfrm>
            <a:off x="4890852" y="2312578"/>
            <a:ext cx="2826315" cy="286057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4572" lvl="1" indent="0" eaLnBrk="0" fontAlgn="base" hangingPunct="0">
              <a:lnSpc>
                <a:spcPct val="100000"/>
              </a:lnSpc>
              <a:spcBef>
                <a:spcPct val="0"/>
              </a:spcBef>
              <a:spcAft>
                <a:spcPct val="0"/>
              </a:spcAft>
              <a:buNone/>
            </a:pPr>
            <a:r>
              <a:rPr lang="en-US" sz="1500" dirty="0">
                <a:solidFill>
                  <a:schemeClr val="bg1"/>
                </a:solidFill>
                <a:latin typeface="Segoe UI" panose="020B0502040204020203" pitchFamily="34" charset="0"/>
                <a:cs typeface="Segoe UI" panose="020B0502040204020203" pitchFamily="34" charset="0"/>
              </a:rPr>
              <a:t>This is the core innovation. Instead of streaming raw data to a slow cloud, an onboard microcontroller (like the ESP32) runs a lightweight machine-learning model locally. It spots complex anomaly patterns in real-time.</a:t>
            </a:r>
            <a:endParaRPr lang="en-IN" sz="1500" dirty="0">
              <a:solidFill>
                <a:schemeClr val="bg1"/>
              </a:solidFill>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C3028CC1-F8A8-9C34-A3C7-C24BDB41D435}"/>
              </a:ext>
            </a:extLst>
          </p:cNvPr>
          <p:cNvSpPr txBox="1"/>
          <p:nvPr/>
        </p:nvSpPr>
        <p:spPr>
          <a:xfrm>
            <a:off x="8570687" y="1607990"/>
            <a:ext cx="3479346" cy="523220"/>
          </a:xfrm>
          <a:prstGeom prst="rect">
            <a:avLst/>
          </a:prstGeom>
          <a:noFill/>
        </p:spPr>
        <p:txBody>
          <a:bodyPr wrap="square">
            <a:spAutoFit/>
          </a:bodyPr>
          <a:lstStyle/>
          <a:p>
            <a:pPr algn="ctr"/>
            <a:r>
              <a:rPr lang="en-US" sz="2800" b="1" dirty="0">
                <a:solidFill>
                  <a:srgbClr val="FFC000"/>
                </a:solidFill>
                <a:latin typeface="Segoe UI" panose="020B0502040204020203" pitchFamily="34" charset="0"/>
                <a:cs typeface="Segoe UI" panose="020B0502040204020203" pitchFamily="34" charset="0"/>
              </a:rPr>
              <a:t>Protect </a:t>
            </a:r>
            <a:endParaRPr lang="en-IN" sz="2800" b="1" dirty="0">
              <a:solidFill>
                <a:srgbClr val="FFC000"/>
              </a:solidFill>
              <a:latin typeface="Segoe UI" panose="020B0502040204020203" pitchFamily="34" charset="0"/>
              <a:cs typeface="Segoe UI" panose="020B0502040204020203" pitchFamily="34" charset="0"/>
            </a:endParaRPr>
          </a:p>
        </p:txBody>
      </p:sp>
      <p:sp>
        <p:nvSpPr>
          <p:cNvPr id="21" name="Content Placeholder 2">
            <a:extLst>
              <a:ext uri="{FF2B5EF4-FFF2-40B4-BE49-F238E27FC236}">
                <a16:creationId xmlns:a16="http://schemas.microsoft.com/office/drawing/2014/main" id="{00CB8167-0EEE-2EF5-56AF-A6135F1B6599}"/>
              </a:ext>
            </a:extLst>
          </p:cNvPr>
          <p:cNvSpPr txBox="1">
            <a:spLocks/>
          </p:cNvSpPr>
          <p:nvPr/>
        </p:nvSpPr>
        <p:spPr>
          <a:xfrm>
            <a:off x="8955206" y="2312578"/>
            <a:ext cx="2685252" cy="286057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4572" lvl="1" indent="0" eaLnBrk="0" fontAlgn="base" hangingPunct="0">
              <a:lnSpc>
                <a:spcPct val="100000"/>
              </a:lnSpc>
              <a:spcBef>
                <a:spcPct val="0"/>
              </a:spcBef>
              <a:spcAft>
                <a:spcPct val="0"/>
              </a:spcAft>
              <a:buNone/>
            </a:pPr>
            <a:r>
              <a:rPr lang="en-US" sz="1500" dirty="0">
                <a:solidFill>
                  <a:schemeClr val="bg1"/>
                </a:solidFill>
                <a:latin typeface="Segoe UI" panose="020B0502040204020203" pitchFamily="34" charset="0"/>
                <a:cs typeface="Segoe UI" panose="020B0502040204020203" pitchFamily="34" charset="0"/>
              </a:rPr>
              <a:t>The millisecond a stall or critical failure is predicted, the node autonomously triggers a local hardware interrupt to instantly cut motor power—completely independent of Wi-Fi.</a:t>
            </a:r>
            <a:endParaRPr lang="en-IN" sz="1500" dirty="0">
              <a:solidFill>
                <a:schemeClr val="bg1"/>
              </a:solidFill>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450B3DBC-B4B6-E75E-F718-C9C0C8432450}"/>
              </a:ext>
            </a:extLst>
          </p:cNvPr>
          <p:cNvSpPr txBox="1"/>
          <p:nvPr/>
        </p:nvSpPr>
        <p:spPr>
          <a:xfrm>
            <a:off x="2247493" y="5632442"/>
            <a:ext cx="8113032" cy="477054"/>
          </a:xfrm>
          <a:prstGeom prst="rect">
            <a:avLst/>
          </a:prstGeom>
          <a:noFill/>
          <a:ln>
            <a:noFill/>
          </a:ln>
        </p:spPr>
        <p:txBody>
          <a:bodyPr wrap="square">
            <a:spAutoFit/>
          </a:bodyPr>
          <a:lstStyle/>
          <a:p>
            <a:pPr algn="ctr"/>
            <a:r>
              <a:rPr lang="en-US" sz="2500" b="1" dirty="0">
                <a:solidFill>
                  <a:srgbClr val="FFFF00"/>
                </a:solidFill>
                <a:effectLst>
                  <a:glow rad="228600">
                    <a:schemeClr val="accent2">
                      <a:satMod val="175000"/>
                      <a:alpha val="40000"/>
                    </a:schemeClr>
                  </a:glow>
                </a:effectLst>
                <a:latin typeface="Segoe UI" panose="020B0502040204020203" pitchFamily="34" charset="0"/>
                <a:cs typeface="Segoe UI" panose="020B0502040204020203" pitchFamily="34" charset="0"/>
              </a:rPr>
              <a:t>Zero Cloud Dependency for Critical Safety Decisions.</a:t>
            </a:r>
            <a:endParaRPr lang="en-IN" sz="2500" b="1" dirty="0">
              <a:solidFill>
                <a:srgbClr val="FFFF00"/>
              </a:solidFill>
              <a:effectLst>
                <a:glow rad="228600">
                  <a:schemeClr val="accent2">
                    <a:satMod val="175000"/>
                    <a:alpha val="40000"/>
                  </a:schemeClr>
                </a:glow>
              </a:effectLst>
              <a:latin typeface="Segoe UI" panose="020B0502040204020203" pitchFamily="34" charset="0"/>
              <a:cs typeface="Segoe UI" panose="020B0502040204020203" pitchFamily="34" charset="0"/>
            </a:endParaRPr>
          </a:p>
        </p:txBody>
      </p:sp>
      <p:pic>
        <p:nvPicPr>
          <p:cNvPr id="25" name="Graphic 24" descr="Wireless">
            <a:extLst>
              <a:ext uri="{FF2B5EF4-FFF2-40B4-BE49-F238E27FC236}">
                <a16:creationId xmlns:a16="http://schemas.microsoft.com/office/drawing/2014/main" id="{287D728E-ED29-A5E1-1645-8B4D0937B1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942" y="1562178"/>
            <a:ext cx="627334" cy="627334"/>
          </a:xfrm>
          <a:prstGeom prst="rect">
            <a:avLst/>
          </a:prstGeom>
        </p:spPr>
      </p:pic>
      <p:pic>
        <p:nvPicPr>
          <p:cNvPr id="27" name="Graphic 26" descr="Processor">
            <a:extLst>
              <a:ext uri="{FF2B5EF4-FFF2-40B4-BE49-F238E27FC236}">
                <a16:creationId xmlns:a16="http://schemas.microsoft.com/office/drawing/2014/main" id="{781BA835-3603-F76B-E747-1008182075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36457" y="1532741"/>
            <a:ext cx="656771" cy="656771"/>
          </a:xfrm>
          <a:prstGeom prst="rect">
            <a:avLst/>
          </a:prstGeom>
        </p:spPr>
      </p:pic>
      <p:pic>
        <p:nvPicPr>
          <p:cNvPr id="29" name="Graphic 28" descr="Lock">
            <a:extLst>
              <a:ext uri="{FF2B5EF4-FFF2-40B4-BE49-F238E27FC236}">
                <a16:creationId xmlns:a16="http://schemas.microsoft.com/office/drawing/2014/main" id="{472879C1-726C-8F0A-A74D-5D0BF3E487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77742" y="1552100"/>
            <a:ext cx="635000" cy="635000"/>
          </a:xfrm>
          <a:prstGeom prst="rect">
            <a:avLst/>
          </a:prstGeom>
        </p:spPr>
      </p:pic>
    </p:spTree>
    <p:extLst>
      <p:ext uri="{BB962C8B-B14F-4D97-AF65-F5344CB8AC3E}">
        <p14:creationId xmlns:p14="http://schemas.microsoft.com/office/powerpoint/2010/main" val="409011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000"/>
                                        <p:tgtEl>
                                          <p:spTgt spid="27"/>
                                        </p:tgtEl>
                                      </p:cBhvr>
                                    </p:animEffect>
                                    <p:anim calcmode="lin" valueType="num">
                                      <p:cBhvr>
                                        <p:cTn id="39" dur="1000" fill="hold"/>
                                        <p:tgtEl>
                                          <p:spTgt spid="27"/>
                                        </p:tgtEl>
                                        <p:attrNameLst>
                                          <p:attrName>ppt_x</p:attrName>
                                        </p:attrNameLst>
                                      </p:cBhvr>
                                      <p:tavLst>
                                        <p:tav tm="0">
                                          <p:val>
                                            <p:strVal val="#ppt_x"/>
                                          </p:val>
                                        </p:tav>
                                        <p:tav tm="100000">
                                          <p:val>
                                            <p:strVal val="#ppt_x"/>
                                          </p:val>
                                        </p:tav>
                                      </p:tavLst>
                                    </p:anim>
                                    <p:anim calcmode="lin" valueType="num">
                                      <p:cBhvr>
                                        <p:cTn id="40" dur="1000" fill="hold"/>
                                        <p:tgtEl>
                                          <p:spTgt spid="27"/>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childTnLst>
                          </p:cTn>
                        </p:par>
                        <p:par>
                          <p:cTn id="46" fill="hold">
                            <p:stCondLst>
                              <p:cond delay="2000"/>
                            </p:stCondLst>
                            <p:childTnLst>
                              <p:par>
                                <p:cTn id="47" presetID="42" presetClass="entr" presetSubtype="0"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1000"/>
                                        <p:tgtEl>
                                          <p:spTgt spid="29"/>
                                        </p:tgtEl>
                                      </p:cBhvr>
                                    </p:animEffect>
                                    <p:anim calcmode="lin" valueType="num">
                                      <p:cBhvr>
                                        <p:cTn id="55" dur="1000" fill="hold"/>
                                        <p:tgtEl>
                                          <p:spTgt spid="29"/>
                                        </p:tgtEl>
                                        <p:attrNameLst>
                                          <p:attrName>ppt_x</p:attrName>
                                        </p:attrNameLst>
                                      </p:cBhvr>
                                      <p:tavLst>
                                        <p:tav tm="0">
                                          <p:val>
                                            <p:strVal val="#ppt_x"/>
                                          </p:val>
                                        </p:tav>
                                        <p:tav tm="100000">
                                          <p:val>
                                            <p:strVal val="#ppt_x"/>
                                          </p:val>
                                        </p:tav>
                                      </p:tavLst>
                                    </p:anim>
                                    <p:anim calcmode="lin" valueType="num">
                                      <p:cBhvr>
                                        <p:cTn id="56" dur="1000" fill="hold"/>
                                        <p:tgtEl>
                                          <p:spTgt spid="29"/>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1000"/>
                                        <p:tgtEl>
                                          <p:spTgt spid="11"/>
                                        </p:tgtEl>
                                      </p:cBhvr>
                                    </p:animEffect>
                                    <p:anim calcmode="lin" valueType="num">
                                      <p:cBhvr>
                                        <p:cTn id="65" dur="1000" fill="hold"/>
                                        <p:tgtEl>
                                          <p:spTgt spid="11"/>
                                        </p:tgtEl>
                                        <p:attrNameLst>
                                          <p:attrName>ppt_x</p:attrName>
                                        </p:attrNameLst>
                                      </p:cBhvr>
                                      <p:tavLst>
                                        <p:tav tm="0">
                                          <p:val>
                                            <p:strVal val="#ppt_x"/>
                                          </p:val>
                                        </p:tav>
                                        <p:tav tm="100000">
                                          <p:val>
                                            <p:strVal val="#ppt_x"/>
                                          </p:val>
                                        </p:tav>
                                      </p:tavLst>
                                    </p:anim>
                                    <p:anim calcmode="lin" valueType="num">
                                      <p:cBhvr>
                                        <p:cTn id="66" dur="1000" fill="hold"/>
                                        <p:tgtEl>
                                          <p:spTgt spid="11"/>
                                        </p:tgtEl>
                                        <p:attrNameLst>
                                          <p:attrName>ppt_y</p:attrName>
                                        </p:attrNameLst>
                                      </p:cBhvr>
                                      <p:tavLst>
                                        <p:tav tm="0">
                                          <p:val>
                                            <p:strVal val="#ppt_y+.1"/>
                                          </p:val>
                                        </p:tav>
                                        <p:tav tm="100000">
                                          <p:val>
                                            <p:strVal val="#ppt_y"/>
                                          </p:val>
                                        </p:tav>
                                      </p:tavLst>
                                    </p:anim>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0" grpId="0"/>
      <p:bldP spid="16" grpId="0"/>
      <p:bldP spid="18" grpId="0"/>
      <p:bldP spid="19" grpId="0"/>
      <p:bldP spid="20" grpId="0"/>
      <p:bldP spid="21"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5CF0117E-450A-319F-411E-C4B1428D86E3}"/>
              </a:ext>
            </a:extLst>
          </p:cNvPr>
          <p:cNvSpPr/>
          <p:nvPr/>
        </p:nvSpPr>
        <p:spPr>
          <a:xfrm>
            <a:off x="7255553" y="3055028"/>
            <a:ext cx="4448175" cy="1568763"/>
          </a:xfrm>
          <a:prstGeom prst="roundRect">
            <a:avLst/>
          </a:prstGeom>
          <a:solidFill>
            <a:schemeClr val="bg1">
              <a:lumMod val="5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C348745D-066E-10EE-9292-988FF97BE884}"/>
              </a:ext>
            </a:extLst>
          </p:cNvPr>
          <p:cNvSpPr/>
          <p:nvPr/>
        </p:nvSpPr>
        <p:spPr>
          <a:xfrm>
            <a:off x="410481" y="1209675"/>
            <a:ext cx="11152869" cy="1695440"/>
          </a:xfrm>
          <a:prstGeom prst="roundRect">
            <a:avLst/>
          </a:prstGeom>
          <a:solidFill>
            <a:srgbClr val="00359E">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Bent 14">
            <a:extLst>
              <a:ext uri="{FF2B5EF4-FFF2-40B4-BE49-F238E27FC236}">
                <a16:creationId xmlns:a16="http://schemas.microsoft.com/office/drawing/2014/main" id="{91F127C3-85D2-3DAA-4378-6EF0FD601138}"/>
              </a:ext>
            </a:extLst>
          </p:cNvPr>
          <p:cNvSpPr/>
          <p:nvPr/>
        </p:nvSpPr>
        <p:spPr>
          <a:xfrm rot="10800000" flipH="1">
            <a:off x="6736713" y="2426038"/>
            <a:ext cx="1351188" cy="1678892"/>
          </a:xfrm>
          <a:prstGeom prst="ben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55D015A6-4C6A-0251-EDF4-D646489F31C7}"/>
              </a:ext>
            </a:extLst>
          </p:cNvPr>
          <p:cNvSpPr>
            <a:spLocks noGrp="1"/>
          </p:cNvSpPr>
          <p:nvPr>
            <p:ph type="title"/>
          </p:nvPr>
        </p:nvSpPr>
        <p:spPr>
          <a:xfrm>
            <a:off x="379638" y="289077"/>
            <a:ext cx="4552951" cy="710142"/>
          </a:xfrm>
        </p:spPr>
        <p:txBody>
          <a:bodyPr>
            <a:normAutofit/>
          </a:bodyPr>
          <a:lstStyle/>
          <a:p>
            <a:r>
              <a:rPr lang="en-IN" sz="4000" dirty="0">
                <a:solidFill>
                  <a:schemeClr val="bg1"/>
                </a:solidFill>
                <a:latin typeface="Segoe UI Semibold" panose="020B0702040204020203" pitchFamily="34" charset="0"/>
                <a:cs typeface="Segoe UI Semibold" panose="020B0702040204020203" pitchFamily="34" charset="0"/>
              </a:rPr>
              <a:t>System Architecture</a:t>
            </a:r>
          </a:p>
        </p:txBody>
      </p:sp>
      <p:graphicFrame>
        <p:nvGraphicFramePr>
          <p:cNvPr id="5" name="Content Placeholder 4">
            <a:extLst>
              <a:ext uri="{FF2B5EF4-FFF2-40B4-BE49-F238E27FC236}">
                <a16:creationId xmlns:a16="http://schemas.microsoft.com/office/drawing/2014/main" id="{80076D7B-C295-445C-6204-C1942864854D}"/>
              </a:ext>
            </a:extLst>
          </p:cNvPr>
          <p:cNvGraphicFramePr>
            <a:graphicFrameLocks noGrp="1"/>
          </p:cNvGraphicFramePr>
          <p:nvPr>
            <p:ph idx="1"/>
            <p:extLst>
              <p:ext uri="{D42A27DB-BD31-4B8C-83A1-F6EECF244321}">
                <p14:modId xmlns:p14="http://schemas.microsoft.com/office/powerpoint/2010/main" val="26564431"/>
              </p:ext>
            </p:extLst>
          </p:nvPr>
        </p:nvGraphicFramePr>
        <p:xfrm>
          <a:off x="561975" y="999219"/>
          <a:ext cx="10753725" cy="2055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Straight Connector 3">
            <a:extLst>
              <a:ext uri="{FF2B5EF4-FFF2-40B4-BE49-F238E27FC236}">
                <a16:creationId xmlns:a16="http://schemas.microsoft.com/office/drawing/2014/main" id="{FEF88D67-5294-CDE1-5FA0-0F0622617EEB}"/>
              </a:ext>
            </a:extLst>
          </p:cNvPr>
          <p:cNvCxnSpPr>
            <a:cxnSpLocks/>
          </p:cNvCxnSpPr>
          <p:nvPr/>
        </p:nvCxnSpPr>
        <p:spPr>
          <a:xfrm>
            <a:off x="410481" y="1073451"/>
            <a:ext cx="65346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98969664-42B9-C878-BBE1-54FDF56515F2}"/>
              </a:ext>
            </a:extLst>
          </p:cNvPr>
          <p:cNvGrpSpPr/>
          <p:nvPr/>
        </p:nvGrpSpPr>
        <p:grpSpPr>
          <a:xfrm>
            <a:off x="7642585" y="3160867"/>
            <a:ext cx="2150384" cy="1178289"/>
            <a:chOff x="2501366" y="438759"/>
            <a:chExt cx="2945722" cy="1178289"/>
          </a:xfrm>
          <a:solidFill>
            <a:schemeClr val="bg1">
              <a:lumMod val="50000"/>
            </a:schemeClr>
          </a:solidFill>
        </p:grpSpPr>
        <p:sp>
          <p:nvSpPr>
            <p:cNvPr id="17" name="Arrow: Chevron 16">
              <a:extLst>
                <a:ext uri="{FF2B5EF4-FFF2-40B4-BE49-F238E27FC236}">
                  <a16:creationId xmlns:a16="http://schemas.microsoft.com/office/drawing/2014/main" id="{D349B686-D736-B133-D709-09DBE2FAF1BD}"/>
                </a:ext>
              </a:extLst>
            </p:cNvPr>
            <p:cNvSpPr/>
            <p:nvPr/>
          </p:nvSpPr>
          <p:spPr>
            <a:xfrm>
              <a:off x="2501366" y="438759"/>
              <a:ext cx="2945722" cy="1178289"/>
            </a:xfrm>
            <a:prstGeom prst="chevron">
              <a:avLst/>
            </a:prstGeom>
            <a:grpFill/>
          </p:spPr>
          <p:style>
            <a:lnRef idx="0">
              <a:schemeClr val="lt1">
                <a:hueOff val="0"/>
                <a:satOff val="0"/>
                <a:lumOff val="0"/>
                <a:alphaOff val="0"/>
              </a:schemeClr>
            </a:lnRef>
            <a:fillRef idx="3">
              <a:schemeClr val="accent3">
                <a:hueOff val="3189938"/>
                <a:satOff val="-4502"/>
                <a:lumOff val="-196"/>
                <a:alphaOff val="0"/>
              </a:schemeClr>
            </a:fillRef>
            <a:effectRef idx="3">
              <a:schemeClr val="accent3">
                <a:hueOff val="3189938"/>
                <a:satOff val="-4502"/>
                <a:lumOff val="-196"/>
                <a:alphaOff val="0"/>
              </a:schemeClr>
            </a:effectRef>
            <a:fontRef idx="minor">
              <a:schemeClr val="lt1"/>
            </a:fontRef>
          </p:style>
        </p:sp>
        <p:sp>
          <p:nvSpPr>
            <p:cNvPr id="18" name="Arrow: Chevron 4">
              <a:extLst>
                <a:ext uri="{FF2B5EF4-FFF2-40B4-BE49-F238E27FC236}">
                  <a16:creationId xmlns:a16="http://schemas.microsoft.com/office/drawing/2014/main" id="{B813D516-71A9-2996-1D63-5FE6645EB2BC}"/>
                </a:ext>
              </a:extLst>
            </p:cNvPr>
            <p:cNvSpPr txBox="1"/>
            <p:nvPr/>
          </p:nvSpPr>
          <p:spPr>
            <a:xfrm>
              <a:off x="3090511" y="438759"/>
              <a:ext cx="1767433" cy="1178289"/>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Cloud Database Server</a:t>
              </a:r>
            </a:p>
          </p:txBody>
        </p:sp>
      </p:grpSp>
      <p:grpSp>
        <p:nvGrpSpPr>
          <p:cNvPr id="21" name="Group 20">
            <a:extLst>
              <a:ext uri="{FF2B5EF4-FFF2-40B4-BE49-F238E27FC236}">
                <a16:creationId xmlns:a16="http://schemas.microsoft.com/office/drawing/2014/main" id="{C62F513A-612A-6A18-9FDD-BEDE42364EAB}"/>
              </a:ext>
            </a:extLst>
          </p:cNvPr>
          <p:cNvGrpSpPr/>
          <p:nvPr/>
        </p:nvGrpSpPr>
        <p:grpSpPr>
          <a:xfrm>
            <a:off x="9479641" y="3160866"/>
            <a:ext cx="2150384" cy="1178289"/>
            <a:chOff x="2501366" y="438759"/>
            <a:chExt cx="2945722" cy="1178289"/>
          </a:xfrm>
          <a:solidFill>
            <a:srgbClr val="A7A7A7"/>
          </a:solidFill>
        </p:grpSpPr>
        <p:sp>
          <p:nvSpPr>
            <p:cNvPr id="22" name="Arrow: Chevron 21">
              <a:extLst>
                <a:ext uri="{FF2B5EF4-FFF2-40B4-BE49-F238E27FC236}">
                  <a16:creationId xmlns:a16="http://schemas.microsoft.com/office/drawing/2014/main" id="{FAEEAA4C-7EEA-BFB7-04DB-8D57890418FF}"/>
                </a:ext>
              </a:extLst>
            </p:cNvPr>
            <p:cNvSpPr/>
            <p:nvPr/>
          </p:nvSpPr>
          <p:spPr>
            <a:xfrm>
              <a:off x="2501366" y="438759"/>
              <a:ext cx="2945722" cy="1178289"/>
            </a:xfrm>
            <a:prstGeom prst="chevron">
              <a:avLst/>
            </a:prstGeom>
            <a:grpFill/>
          </p:spPr>
          <p:style>
            <a:lnRef idx="0">
              <a:schemeClr val="lt1">
                <a:hueOff val="0"/>
                <a:satOff val="0"/>
                <a:lumOff val="0"/>
                <a:alphaOff val="0"/>
              </a:schemeClr>
            </a:lnRef>
            <a:fillRef idx="3">
              <a:schemeClr val="accent3">
                <a:hueOff val="3189938"/>
                <a:satOff val="-4502"/>
                <a:lumOff val="-196"/>
                <a:alphaOff val="0"/>
              </a:schemeClr>
            </a:fillRef>
            <a:effectRef idx="3">
              <a:schemeClr val="accent3">
                <a:hueOff val="3189938"/>
                <a:satOff val="-4502"/>
                <a:lumOff val="-196"/>
                <a:alphaOff val="0"/>
              </a:schemeClr>
            </a:effectRef>
            <a:fontRef idx="minor">
              <a:schemeClr val="lt1"/>
            </a:fontRef>
          </p:style>
        </p:sp>
        <p:sp>
          <p:nvSpPr>
            <p:cNvPr id="23" name="Arrow: Chevron 4">
              <a:extLst>
                <a:ext uri="{FF2B5EF4-FFF2-40B4-BE49-F238E27FC236}">
                  <a16:creationId xmlns:a16="http://schemas.microsoft.com/office/drawing/2014/main" id="{FAA58D77-AA41-F2AB-9A49-22D433A18F29}"/>
                </a:ext>
              </a:extLst>
            </p:cNvPr>
            <p:cNvSpPr txBox="1"/>
            <p:nvPr/>
          </p:nvSpPr>
          <p:spPr>
            <a:xfrm>
              <a:off x="3090511" y="438759"/>
              <a:ext cx="1767433" cy="1178289"/>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Cloud Based Display Interface</a:t>
              </a:r>
            </a:p>
          </p:txBody>
        </p:sp>
      </p:grpSp>
      <p:sp>
        <p:nvSpPr>
          <p:cNvPr id="28" name="Rectangle: Rounded Corners 27">
            <a:extLst>
              <a:ext uri="{FF2B5EF4-FFF2-40B4-BE49-F238E27FC236}">
                <a16:creationId xmlns:a16="http://schemas.microsoft.com/office/drawing/2014/main" id="{667DB796-2624-5C29-E6DC-E30BA11B845E}"/>
              </a:ext>
            </a:extLst>
          </p:cNvPr>
          <p:cNvSpPr/>
          <p:nvPr/>
        </p:nvSpPr>
        <p:spPr>
          <a:xfrm>
            <a:off x="410481" y="3160865"/>
            <a:ext cx="4332969" cy="3408057"/>
          </a:xfrm>
          <a:prstGeom prst="roundRect">
            <a:avLst/>
          </a:prstGeom>
          <a:solidFill>
            <a:srgbClr val="0000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Rounded Corners 28">
            <a:extLst>
              <a:ext uri="{FF2B5EF4-FFF2-40B4-BE49-F238E27FC236}">
                <a16:creationId xmlns:a16="http://schemas.microsoft.com/office/drawing/2014/main" id="{EB9A1341-1962-0BB1-D891-5B77D265DEFD}"/>
              </a:ext>
            </a:extLst>
          </p:cNvPr>
          <p:cNvSpPr/>
          <p:nvPr/>
        </p:nvSpPr>
        <p:spPr>
          <a:xfrm>
            <a:off x="4932589" y="4773704"/>
            <a:ext cx="4098142" cy="1795218"/>
          </a:xfrm>
          <a:prstGeom prst="roundRect">
            <a:avLst/>
          </a:prstGeom>
          <a:solidFill>
            <a:srgbClr val="0000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TextBox 29">
            <a:extLst>
              <a:ext uri="{FF2B5EF4-FFF2-40B4-BE49-F238E27FC236}">
                <a16:creationId xmlns:a16="http://schemas.microsoft.com/office/drawing/2014/main" id="{00924729-7CDF-1FA0-76BC-D86D00E323EA}"/>
              </a:ext>
            </a:extLst>
          </p:cNvPr>
          <p:cNvSpPr txBox="1"/>
          <p:nvPr/>
        </p:nvSpPr>
        <p:spPr>
          <a:xfrm>
            <a:off x="600170" y="3242429"/>
            <a:ext cx="3962431" cy="3247043"/>
          </a:xfrm>
          <a:prstGeom prst="rect">
            <a:avLst/>
          </a:prstGeom>
          <a:noFill/>
        </p:spPr>
        <p:txBody>
          <a:bodyPr wrap="none" rtlCol="0">
            <a:spAutoFit/>
          </a:bodyPr>
          <a:lstStyle/>
          <a:p>
            <a:r>
              <a:rPr lang="en-IN" sz="2500" b="1" dirty="0">
                <a:solidFill>
                  <a:schemeClr val="bg1"/>
                </a:solidFill>
                <a:latin typeface="Segoe UI" panose="020B0502040204020203" pitchFamily="34" charset="0"/>
                <a:cs typeface="Segoe UI" panose="020B0502040204020203" pitchFamily="34" charset="0"/>
              </a:rPr>
              <a:t>Hardware :</a:t>
            </a:r>
            <a:br>
              <a:rPr lang="en-IN" dirty="0">
                <a:solidFill>
                  <a:schemeClr val="bg1"/>
                </a:solidFill>
                <a:latin typeface="Segoe UI" panose="020B0502040204020203" pitchFamily="34" charset="0"/>
                <a:cs typeface="Segoe UI" panose="020B0502040204020203" pitchFamily="34" charset="0"/>
              </a:rPr>
            </a:br>
            <a:endParaRPr lang="en-IN"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 MPU6050 Gyro-Accelerometer</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High-Power MOSFET Trigger Relay</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D1286464 I2C OLED Display</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Ds18B20 Thermal Probe</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Infrared Speed Sensor </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DC-DC Buck Converter </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Motor Supply</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Motor (BLDC, Brushed DC or AC)</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Resistors, Capacitor &amp; Diodes</a:t>
            </a:r>
          </a:p>
        </p:txBody>
      </p:sp>
      <p:sp>
        <p:nvSpPr>
          <p:cNvPr id="31" name="TextBox 30">
            <a:extLst>
              <a:ext uri="{FF2B5EF4-FFF2-40B4-BE49-F238E27FC236}">
                <a16:creationId xmlns:a16="http://schemas.microsoft.com/office/drawing/2014/main" id="{3FE9A5DA-ADFD-A2EB-D66B-52A00B0AE830}"/>
              </a:ext>
            </a:extLst>
          </p:cNvPr>
          <p:cNvSpPr txBox="1"/>
          <p:nvPr/>
        </p:nvSpPr>
        <p:spPr>
          <a:xfrm>
            <a:off x="5129028" y="4890030"/>
            <a:ext cx="3215367" cy="1862048"/>
          </a:xfrm>
          <a:prstGeom prst="rect">
            <a:avLst/>
          </a:prstGeom>
          <a:noFill/>
        </p:spPr>
        <p:txBody>
          <a:bodyPr wrap="none" rtlCol="0">
            <a:spAutoFit/>
          </a:bodyPr>
          <a:lstStyle/>
          <a:p>
            <a:r>
              <a:rPr lang="en-IN" sz="2500" b="1" dirty="0">
                <a:solidFill>
                  <a:schemeClr val="bg1"/>
                </a:solidFill>
                <a:latin typeface="Segoe UI" panose="020B0502040204020203" pitchFamily="34" charset="0"/>
                <a:cs typeface="Segoe UI" panose="020B0502040204020203" pitchFamily="34" charset="0"/>
              </a:rPr>
              <a:t>Software :</a:t>
            </a:r>
            <a:br>
              <a:rPr lang="en-IN" dirty="0">
                <a:solidFill>
                  <a:schemeClr val="bg1"/>
                </a:solidFill>
                <a:latin typeface="Segoe UI" panose="020B0502040204020203" pitchFamily="34" charset="0"/>
                <a:cs typeface="Segoe UI" panose="020B0502040204020203" pitchFamily="34" charset="0"/>
              </a:rPr>
            </a:br>
            <a:endParaRPr lang="en-IN"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C++ (Arduino IDE)</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Edge Impulse (</a:t>
            </a:r>
            <a:r>
              <a:rPr lang="en-IN" dirty="0" err="1">
                <a:solidFill>
                  <a:schemeClr val="bg1"/>
                </a:solidFill>
                <a:latin typeface="Segoe UI" panose="020B0502040204020203" pitchFamily="34" charset="0"/>
                <a:cs typeface="Segoe UI" panose="020B0502040204020203" pitchFamily="34" charset="0"/>
              </a:rPr>
              <a:t>TinyML</a:t>
            </a:r>
            <a:r>
              <a:rPr lang="en-IN" dirty="0">
                <a:solidFill>
                  <a:schemeClr val="bg1"/>
                </a:solidFill>
                <a:latin typeface="Segoe UI" panose="020B0502040204020203" pitchFamily="34" charset="0"/>
                <a:cs typeface="Segoe UI" panose="020B0502040204020203" pitchFamily="34" charset="0"/>
              </a:rPr>
              <a:t>)</a:t>
            </a:r>
          </a:p>
          <a:p>
            <a:pPr marL="285750" indent="-285750">
              <a:buFont typeface="Arial" panose="020B0604020202020204" pitchFamily="34" charset="0"/>
              <a:buChar char="•"/>
            </a:pPr>
            <a:r>
              <a:rPr lang="en-IN" dirty="0">
                <a:solidFill>
                  <a:schemeClr val="bg1"/>
                </a:solidFill>
                <a:latin typeface="Segoe UI" panose="020B0502040204020203" pitchFamily="34" charset="0"/>
                <a:cs typeface="Segoe UI" panose="020B0502040204020203" pitchFamily="34" charset="0"/>
              </a:rPr>
              <a:t>Python (</a:t>
            </a:r>
            <a:r>
              <a:rPr lang="en-IN" dirty="0" err="1">
                <a:solidFill>
                  <a:schemeClr val="bg1"/>
                </a:solidFill>
                <a:latin typeface="Segoe UI" panose="020B0502040204020203" pitchFamily="34" charset="0"/>
                <a:cs typeface="Segoe UI" panose="020B0502040204020203" pitchFamily="34" charset="0"/>
              </a:rPr>
              <a:t>Jupyter</a:t>
            </a:r>
            <a:r>
              <a:rPr lang="en-IN" dirty="0">
                <a:solidFill>
                  <a:schemeClr val="bg1"/>
                </a:solidFill>
                <a:latin typeface="Segoe UI" panose="020B0502040204020203" pitchFamily="34" charset="0"/>
                <a:cs typeface="Segoe UI" panose="020B0502040204020203" pitchFamily="34" charset="0"/>
              </a:rPr>
              <a:t> Notebook)</a:t>
            </a:r>
          </a:p>
          <a:p>
            <a:pPr marL="285750" indent="-285750">
              <a:buFont typeface="Arial" panose="020B0604020202020204" pitchFamily="34" charset="0"/>
              <a:buChar char="•"/>
            </a:pPr>
            <a:endParaRPr lang="en-IN" dirty="0">
              <a:solidFill>
                <a:schemeClr val="bg1"/>
              </a:solidFill>
              <a:latin typeface="Segoe UI" panose="020B0502040204020203" pitchFamily="34" charset="0"/>
              <a:cs typeface="Segoe UI" panose="020B0502040204020203" pitchFamily="34" charset="0"/>
            </a:endParaRPr>
          </a:p>
        </p:txBody>
      </p:sp>
      <p:pic>
        <p:nvPicPr>
          <p:cNvPr id="3" name="Graphic 2" descr="Wireless">
            <a:extLst>
              <a:ext uri="{FF2B5EF4-FFF2-40B4-BE49-F238E27FC236}">
                <a16:creationId xmlns:a16="http://schemas.microsoft.com/office/drawing/2014/main" id="{01B948DB-E8BB-422D-4DDB-4A0E8F3751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02410" y="1783594"/>
            <a:ext cx="471372" cy="471372"/>
          </a:xfrm>
          <a:prstGeom prst="rect">
            <a:avLst/>
          </a:prstGeom>
        </p:spPr>
      </p:pic>
      <p:pic>
        <p:nvPicPr>
          <p:cNvPr id="6" name="Graphic 5" descr="Processor">
            <a:extLst>
              <a:ext uri="{FF2B5EF4-FFF2-40B4-BE49-F238E27FC236}">
                <a16:creationId xmlns:a16="http://schemas.microsoft.com/office/drawing/2014/main" id="{DFEAF56C-C4E0-F0BE-E390-ECBAB82FE6E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7146" y="3506243"/>
            <a:ext cx="487533" cy="487533"/>
          </a:xfrm>
          <a:prstGeom prst="rect">
            <a:avLst/>
          </a:prstGeom>
        </p:spPr>
      </p:pic>
      <p:pic>
        <p:nvPicPr>
          <p:cNvPr id="7" name="Graphic 6" descr="Lock">
            <a:extLst>
              <a:ext uri="{FF2B5EF4-FFF2-40B4-BE49-F238E27FC236}">
                <a16:creationId xmlns:a16="http://schemas.microsoft.com/office/drawing/2014/main" id="{2C439ED8-CEE6-1ECA-0FC9-7D7997BCBFB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23662" y="1744919"/>
            <a:ext cx="471372" cy="471372"/>
          </a:xfrm>
          <a:prstGeom prst="rect">
            <a:avLst/>
          </a:prstGeom>
        </p:spPr>
      </p:pic>
    </p:spTree>
    <p:extLst>
      <p:ext uri="{BB962C8B-B14F-4D97-AF65-F5344CB8AC3E}">
        <p14:creationId xmlns:p14="http://schemas.microsoft.com/office/powerpoint/2010/main" val="23004065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graphicEl>
                                              <a:dgm id="{EA75A59B-6508-42DF-980F-5964A5E9F634}"/>
                                            </p:graphicEl>
                                          </p:spTgt>
                                        </p:tgtEl>
                                        <p:attrNameLst>
                                          <p:attrName>style.visibility</p:attrName>
                                        </p:attrNameLst>
                                      </p:cBhvr>
                                      <p:to>
                                        <p:strVal val="visible"/>
                                      </p:to>
                                    </p:set>
                                    <p:anim calcmode="lin" valueType="num">
                                      <p:cBhvr additive="base">
                                        <p:cTn id="7" dur="500" fill="hold"/>
                                        <p:tgtEl>
                                          <p:spTgt spid="5">
                                            <p:graphicEl>
                                              <a:dgm id="{EA75A59B-6508-42DF-980F-5964A5E9F634}"/>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graphicEl>
                                              <a:dgm id="{EA75A59B-6508-42DF-980F-5964A5E9F634}"/>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graphicEl>
                                              <a:dgm id="{E30BCCDA-1BD8-4221-B326-3A684CE4DFEE}"/>
                                            </p:graphicEl>
                                          </p:spTgt>
                                        </p:tgtEl>
                                        <p:attrNameLst>
                                          <p:attrName>style.visibility</p:attrName>
                                        </p:attrNameLst>
                                      </p:cBhvr>
                                      <p:to>
                                        <p:strVal val="visible"/>
                                      </p:to>
                                    </p:set>
                                    <p:anim calcmode="lin" valueType="num">
                                      <p:cBhvr additive="base">
                                        <p:cTn id="13" dur="500" fill="hold"/>
                                        <p:tgtEl>
                                          <p:spTgt spid="5">
                                            <p:graphicEl>
                                              <a:dgm id="{E30BCCDA-1BD8-4221-B326-3A684CE4DFEE}"/>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graphicEl>
                                              <a:dgm id="{E30BCCDA-1BD8-4221-B326-3A684CE4DFEE}"/>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graphicEl>
                                              <a:dgm id="{7487F14E-77F6-4877-9CED-0264454B5183}"/>
                                            </p:graphicEl>
                                          </p:spTgt>
                                        </p:tgtEl>
                                        <p:attrNameLst>
                                          <p:attrName>style.visibility</p:attrName>
                                        </p:attrNameLst>
                                      </p:cBhvr>
                                      <p:to>
                                        <p:strVal val="visible"/>
                                      </p:to>
                                    </p:set>
                                    <p:anim calcmode="lin" valueType="num">
                                      <p:cBhvr additive="base">
                                        <p:cTn id="19" dur="500" fill="hold"/>
                                        <p:tgtEl>
                                          <p:spTgt spid="5">
                                            <p:graphicEl>
                                              <a:dgm id="{7487F14E-77F6-4877-9CED-0264454B5183}"/>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graphicEl>
                                              <a:dgm id="{7487F14E-77F6-4877-9CED-0264454B5183}"/>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graphicEl>
                                              <a:dgm id="{31D4980A-FA63-4606-ABB2-23D02E4CD684}"/>
                                            </p:graphicEl>
                                          </p:spTgt>
                                        </p:tgtEl>
                                        <p:attrNameLst>
                                          <p:attrName>style.visibility</p:attrName>
                                        </p:attrNameLst>
                                      </p:cBhvr>
                                      <p:to>
                                        <p:strVal val="visible"/>
                                      </p:to>
                                    </p:set>
                                    <p:anim calcmode="lin" valueType="num">
                                      <p:cBhvr additive="base">
                                        <p:cTn id="25" dur="500" fill="hold"/>
                                        <p:tgtEl>
                                          <p:spTgt spid="5">
                                            <p:graphicEl>
                                              <a:dgm id="{31D4980A-FA63-4606-ABB2-23D02E4CD684}"/>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graphicEl>
                                              <a:dgm id="{31D4980A-FA63-4606-ABB2-23D02E4CD684}"/>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0-#ppt_w/2"/>
                                          </p:val>
                                        </p:tav>
                                        <p:tav tm="100000">
                                          <p:val>
                                            <p:strVal val="#ppt_x"/>
                                          </p:val>
                                        </p:tav>
                                      </p:tavLst>
                                    </p:anim>
                                    <p:anim calcmode="lin" valueType="num">
                                      <p:cBhvr additive="base">
                                        <p:cTn id="32" dur="500" fill="hold"/>
                                        <p:tgtEl>
                                          <p:spTgt spid="16"/>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 presetClass="entr" presetSubtype="8" fill="hold" nodeType="after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0-#ppt_w/2"/>
                                          </p:val>
                                        </p:tav>
                                        <p:tav tm="100000">
                                          <p:val>
                                            <p:strVal val="#ppt_x"/>
                                          </p:val>
                                        </p:tav>
                                      </p:tavLst>
                                    </p:anim>
                                    <p:anim calcmode="lin" valueType="num">
                                      <p:cBhvr additive="base">
                                        <p:cTn id="37" dur="500" fill="hold"/>
                                        <p:tgtEl>
                                          <p:spTgt spid="21"/>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par>
                                <p:cTn id="42" presetID="10"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par>
                                <p:cTn id="45" presetID="10"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par>
                          <p:cTn id="48" fill="hold">
                            <p:stCondLst>
                              <p:cond delay="1500"/>
                            </p:stCondLst>
                            <p:childTnLst>
                              <p:par>
                                <p:cTn id="49" presetID="10" presetClass="entr" presetSubtype="0"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childTnLst>
                          </p:cTn>
                        </p:par>
                        <p:par>
                          <p:cTn id="55" fill="hold">
                            <p:stCondLst>
                              <p:cond delay="2000"/>
                            </p:stCondLst>
                            <p:childTnLst>
                              <p:par>
                                <p:cTn id="56" presetID="10" presetClass="entr" presetSubtype="0" fill="hold" grpId="0" nodeType="afterEffect">
                                  <p:stCondLst>
                                    <p:cond delay="30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P spid="28" grpId="0" animBg="1"/>
      <p:bldP spid="29" grpId="0" animBg="1"/>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3A1CD68-3A70-73F6-C216-59FD52FE3197}"/>
              </a:ext>
            </a:extLst>
          </p:cNvPr>
          <p:cNvSpPr/>
          <p:nvPr/>
        </p:nvSpPr>
        <p:spPr>
          <a:xfrm>
            <a:off x="8991600" y="1323975"/>
            <a:ext cx="2789918" cy="3992607"/>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53F0BF57-9A1E-F213-734C-AD4676EA3E4F}"/>
              </a:ext>
            </a:extLst>
          </p:cNvPr>
          <p:cNvSpPr/>
          <p:nvPr/>
        </p:nvSpPr>
        <p:spPr>
          <a:xfrm>
            <a:off x="6269807" y="1323975"/>
            <a:ext cx="2434498" cy="3992607"/>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4" name="Graphic 23" descr="Processor">
            <a:extLst>
              <a:ext uri="{FF2B5EF4-FFF2-40B4-BE49-F238E27FC236}">
                <a16:creationId xmlns:a16="http://schemas.microsoft.com/office/drawing/2014/main" id="{52EE5E00-E29C-8831-1DFC-ADA970115B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72209" y="1604300"/>
            <a:ext cx="703217" cy="703217"/>
          </a:xfrm>
          <a:prstGeom prst="rect">
            <a:avLst/>
          </a:prstGeom>
        </p:spPr>
      </p:pic>
      <p:sp>
        <p:nvSpPr>
          <p:cNvPr id="4" name="Title 1">
            <a:extLst>
              <a:ext uri="{FF2B5EF4-FFF2-40B4-BE49-F238E27FC236}">
                <a16:creationId xmlns:a16="http://schemas.microsoft.com/office/drawing/2014/main" id="{97CE079F-A576-79DD-FCC0-5577D526103C}"/>
              </a:ext>
            </a:extLst>
          </p:cNvPr>
          <p:cNvSpPr txBox="1">
            <a:spLocks/>
          </p:cNvSpPr>
          <p:nvPr/>
        </p:nvSpPr>
        <p:spPr>
          <a:xfrm>
            <a:off x="379638" y="289077"/>
            <a:ext cx="10069287" cy="710142"/>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000" dirty="0">
                <a:solidFill>
                  <a:schemeClr val="bg1"/>
                </a:solidFill>
                <a:latin typeface="Segoe UI Semibold" panose="020B0702040204020203" pitchFamily="34" charset="0"/>
                <a:cs typeface="Segoe UI Semibold" panose="020B0702040204020203" pitchFamily="34" charset="0"/>
              </a:rPr>
              <a:t>The SpinSafe Advantage : </a:t>
            </a:r>
          </a:p>
        </p:txBody>
      </p:sp>
      <p:cxnSp>
        <p:nvCxnSpPr>
          <p:cNvPr id="5" name="Straight Connector 4">
            <a:extLst>
              <a:ext uri="{FF2B5EF4-FFF2-40B4-BE49-F238E27FC236}">
                <a16:creationId xmlns:a16="http://schemas.microsoft.com/office/drawing/2014/main" id="{CC5F9897-F4EF-3224-75C0-D0C4C561DE5F}"/>
              </a:ext>
            </a:extLst>
          </p:cNvPr>
          <p:cNvCxnSpPr>
            <a:cxnSpLocks/>
          </p:cNvCxnSpPr>
          <p:nvPr/>
        </p:nvCxnSpPr>
        <p:spPr>
          <a:xfrm>
            <a:off x="410481" y="1073451"/>
            <a:ext cx="65346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2FE5D788-1D72-BFE9-C17E-702E9D114AB8}"/>
              </a:ext>
            </a:extLst>
          </p:cNvPr>
          <p:cNvSpPr/>
          <p:nvPr/>
        </p:nvSpPr>
        <p:spPr>
          <a:xfrm>
            <a:off x="410481" y="1323975"/>
            <a:ext cx="2664777" cy="3992607"/>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5C5EE40-9F3F-FAD4-8CC1-A51183322F4A}"/>
              </a:ext>
            </a:extLst>
          </p:cNvPr>
          <p:cNvSpPr txBox="1"/>
          <p:nvPr/>
        </p:nvSpPr>
        <p:spPr>
          <a:xfrm>
            <a:off x="410482" y="2291366"/>
            <a:ext cx="2789917" cy="707886"/>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Retrofit, </a:t>
            </a:r>
            <a:br>
              <a:rPr lang="en-IN" sz="2000" b="1" dirty="0">
                <a:solidFill>
                  <a:srgbClr val="FFC000"/>
                </a:solidFill>
                <a:latin typeface="Segoe UI Semibold" panose="020B0702040204020203" pitchFamily="34" charset="0"/>
                <a:cs typeface="Segoe UI Semibold" panose="020B0702040204020203" pitchFamily="34" charset="0"/>
              </a:rPr>
            </a:br>
            <a:r>
              <a:rPr lang="en-IN" sz="2000" b="1" dirty="0">
                <a:solidFill>
                  <a:srgbClr val="FFC000"/>
                </a:solidFill>
                <a:latin typeface="Segoe UI Semibold" panose="020B0702040204020203" pitchFamily="34" charset="0"/>
                <a:cs typeface="Segoe UI Semibold" panose="020B0702040204020203" pitchFamily="34" charset="0"/>
              </a:rPr>
              <a:t>Don't Replace</a:t>
            </a:r>
          </a:p>
        </p:txBody>
      </p:sp>
      <p:sp>
        <p:nvSpPr>
          <p:cNvPr id="10" name="TextBox 9">
            <a:extLst>
              <a:ext uri="{FF2B5EF4-FFF2-40B4-BE49-F238E27FC236}">
                <a16:creationId xmlns:a16="http://schemas.microsoft.com/office/drawing/2014/main" id="{4B390BF0-4A74-EE26-9958-F3630C2B1F2E}"/>
              </a:ext>
            </a:extLst>
          </p:cNvPr>
          <p:cNvSpPr txBox="1"/>
          <p:nvPr/>
        </p:nvSpPr>
        <p:spPr>
          <a:xfrm>
            <a:off x="586514" y="3024067"/>
            <a:ext cx="2522447" cy="216982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We do not require factories to buy native "smart motors." SpinSafe mounts non-invasively to existing motor legacy chassis, bringing high-end predictive intelligence to standard, low-cost industrial motors.</a:t>
            </a:r>
            <a:endParaRPr lang="en-IN" sz="1500" dirty="0">
              <a:solidFill>
                <a:schemeClr val="bg1"/>
              </a:solidFill>
              <a:latin typeface="Segoe UI" panose="020B0502040204020203" pitchFamily="34" charset="0"/>
              <a:cs typeface="Segoe UI" panose="020B0502040204020203" pitchFamily="34" charset="0"/>
            </a:endParaRPr>
          </a:p>
        </p:txBody>
      </p:sp>
      <p:sp>
        <p:nvSpPr>
          <p:cNvPr id="11" name="Rectangle: Rounded Corners 10">
            <a:extLst>
              <a:ext uri="{FF2B5EF4-FFF2-40B4-BE49-F238E27FC236}">
                <a16:creationId xmlns:a16="http://schemas.microsoft.com/office/drawing/2014/main" id="{689E2D95-6374-9D13-66D6-31FC01BB873A}"/>
              </a:ext>
            </a:extLst>
          </p:cNvPr>
          <p:cNvSpPr/>
          <p:nvPr/>
        </p:nvSpPr>
        <p:spPr>
          <a:xfrm>
            <a:off x="3277574" y="1312330"/>
            <a:ext cx="2789918" cy="3992607"/>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1AE95FA-51F8-2240-015E-8DFB1A0E5831}"/>
              </a:ext>
            </a:extLst>
          </p:cNvPr>
          <p:cNvSpPr txBox="1"/>
          <p:nvPr/>
        </p:nvSpPr>
        <p:spPr>
          <a:xfrm>
            <a:off x="3302179" y="2279060"/>
            <a:ext cx="2789918" cy="707886"/>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Zero-Latency </a:t>
            </a:r>
            <a:br>
              <a:rPr lang="en-IN" sz="2000" b="1" dirty="0">
                <a:solidFill>
                  <a:srgbClr val="FFC000"/>
                </a:solidFill>
                <a:latin typeface="Segoe UI Semibold" panose="020B0702040204020203" pitchFamily="34" charset="0"/>
                <a:cs typeface="Segoe UI Semibold" panose="020B0702040204020203" pitchFamily="34" charset="0"/>
              </a:rPr>
            </a:br>
            <a:r>
              <a:rPr lang="en-IN" sz="2000" b="1" dirty="0">
                <a:solidFill>
                  <a:srgbClr val="FFC000"/>
                </a:solidFill>
                <a:latin typeface="Segoe UI Semibold" panose="020B0702040204020203" pitchFamily="34" charset="0"/>
                <a:cs typeface="Segoe UI Semibold" panose="020B0702040204020203" pitchFamily="34" charset="0"/>
              </a:rPr>
              <a:t>Safety</a:t>
            </a:r>
          </a:p>
        </p:txBody>
      </p:sp>
      <p:sp>
        <p:nvSpPr>
          <p:cNvPr id="13" name="TextBox 12">
            <a:extLst>
              <a:ext uri="{FF2B5EF4-FFF2-40B4-BE49-F238E27FC236}">
                <a16:creationId xmlns:a16="http://schemas.microsoft.com/office/drawing/2014/main" id="{C193A790-6B64-0063-D68C-377ECA066249}"/>
              </a:ext>
            </a:extLst>
          </p:cNvPr>
          <p:cNvSpPr txBox="1"/>
          <p:nvPr/>
        </p:nvSpPr>
        <p:spPr>
          <a:xfrm>
            <a:off x="3453605" y="3012422"/>
            <a:ext cx="2666456" cy="216982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While competitors wait hundreds of milliseconds for AWS or Azure to process telemetry, our </a:t>
            </a:r>
            <a:r>
              <a:rPr lang="en-US" sz="1500" dirty="0" err="1">
                <a:solidFill>
                  <a:schemeClr val="bg1"/>
                </a:solidFill>
                <a:latin typeface="Segoe UI" panose="020B0502040204020203" pitchFamily="34" charset="0"/>
                <a:cs typeface="Segoe UI" panose="020B0502040204020203" pitchFamily="34" charset="0"/>
              </a:rPr>
              <a:t>TinyML</a:t>
            </a:r>
            <a:r>
              <a:rPr lang="en-US" sz="1500" dirty="0">
                <a:solidFill>
                  <a:schemeClr val="bg1"/>
                </a:solidFill>
                <a:latin typeface="Segoe UI" panose="020B0502040204020203" pitchFamily="34" charset="0"/>
                <a:cs typeface="Segoe UI" panose="020B0502040204020203" pitchFamily="34" charset="0"/>
              </a:rPr>
              <a:t> model infers anomalies locally. We guarantee millisecond relay cutoffs, rendering the system completely immune to factory Wi-Fi dead zones.</a:t>
            </a:r>
            <a:endParaRPr lang="en-IN" sz="1500" dirty="0">
              <a:solidFill>
                <a:schemeClr val="bg1"/>
              </a:solidFill>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5AA2BE1B-BA3E-3A7E-8067-89CC67C282C0}"/>
              </a:ext>
            </a:extLst>
          </p:cNvPr>
          <p:cNvSpPr txBox="1"/>
          <p:nvPr/>
        </p:nvSpPr>
        <p:spPr>
          <a:xfrm>
            <a:off x="6092097" y="2292069"/>
            <a:ext cx="2789919" cy="707886"/>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Predictive Sensor Fusion</a:t>
            </a:r>
          </a:p>
        </p:txBody>
      </p:sp>
      <p:sp>
        <p:nvSpPr>
          <p:cNvPr id="16" name="TextBox 15">
            <a:extLst>
              <a:ext uri="{FF2B5EF4-FFF2-40B4-BE49-F238E27FC236}">
                <a16:creationId xmlns:a16="http://schemas.microsoft.com/office/drawing/2014/main" id="{8DE979F4-9902-ABF0-AD2A-398CD32767FE}"/>
              </a:ext>
            </a:extLst>
          </p:cNvPr>
          <p:cNvSpPr txBox="1"/>
          <p:nvPr/>
        </p:nvSpPr>
        <p:spPr>
          <a:xfrm>
            <a:off x="6382429" y="3024067"/>
            <a:ext cx="2321877" cy="216982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Traditional PLCs only trip if one metric (like heat) crosses a hard, dumb line. Our AI fuses MPU6050 vibration signatures with thermal data to predict stalls before the physical limits are breached.</a:t>
            </a:r>
            <a:endParaRPr lang="en-IN" sz="1500" dirty="0">
              <a:solidFill>
                <a:schemeClr val="bg1"/>
              </a:solidFill>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89AE49A1-3DB4-E10F-F54D-31E8128BC9BC}"/>
              </a:ext>
            </a:extLst>
          </p:cNvPr>
          <p:cNvSpPr txBox="1"/>
          <p:nvPr/>
        </p:nvSpPr>
        <p:spPr>
          <a:xfrm>
            <a:off x="8991599" y="2291366"/>
            <a:ext cx="2789919" cy="707886"/>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Preventive Maintenance </a:t>
            </a:r>
          </a:p>
        </p:txBody>
      </p:sp>
      <p:sp>
        <p:nvSpPr>
          <p:cNvPr id="21" name="TextBox 20">
            <a:extLst>
              <a:ext uri="{FF2B5EF4-FFF2-40B4-BE49-F238E27FC236}">
                <a16:creationId xmlns:a16="http://schemas.microsoft.com/office/drawing/2014/main" id="{45BFF8F0-9167-D01A-9D6F-9AC6B29E173B}"/>
              </a:ext>
            </a:extLst>
          </p:cNvPr>
          <p:cNvSpPr txBox="1"/>
          <p:nvPr/>
        </p:nvSpPr>
        <p:spPr>
          <a:xfrm>
            <a:off x="9059727" y="3024067"/>
            <a:ext cx="2721791" cy="216982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Competitors miss minute fault signatures. SpinSafe catches them. While the edge handles instant safety, we route telemetry to cloud RNN models to analyze historical vibration trends, predicting mechanical wear weeks before a stall.</a:t>
            </a:r>
            <a:endParaRPr lang="en-IN" sz="1500" dirty="0">
              <a:solidFill>
                <a:schemeClr val="bg1"/>
              </a:solidFill>
              <a:latin typeface="Segoe UI" panose="020B0502040204020203" pitchFamily="34" charset="0"/>
              <a:cs typeface="Segoe UI" panose="020B0502040204020203" pitchFamily="34" charset="0"/>
            </a:endParaRPr>
          </a:p>
        </p:txBody>
      </p:sp>
      <p:sp>
        <p:nvSpPr>
          <p:cNvPr id="22" name="TextBox 21">
            <a:extLst>
              <a:ext uri="{FF2B5EF4-FFF2-40B4-BE49-F238E27FC236}">
                <a16:creationId xmlns:a16="http://schemas.microsoft.com/office/drawing/2014/main" id="{AA6DDD5D-8102-57EF-F435-DDF375699640}"/>
              </a:ext>
            </a:extLst>
          </p:cNvPr>
          <p:cNvSpPr txBox="1"/>
          <p:nvPr/>
        </p:nvSpPr>
        <p:spPr>
          <a:xfrm>
            <a:off x="1456052" y="5871557"/>
            <a:ext cx="9272090" cy="400110"/>
          </a:xfrm>
          <a:prstGeom prst="rect">
            <a:avLst/>
          </a:prstGeom>
          <a:noFill/>
        </p:spPr>
        <p:txBody>
          <a:bodyPr wrap="none" rtlCol="0">
            <a:spAutoFit/>
          </a:bodyPr>
          <a:lstStyle/>
          <a:p>
            <a:r>
              <a:rPr lang="en-US" sz="2000"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cs typeface="Segoe UI Semibold" panose="020B0702040204020203" pitchFamily="34" charset="0"/>
              </a:rPr>
              <a:t>The intelligence of the Cloud, with the reaction time of a hardware fuse.</a:t>
            </a:r>
            <a:endParaRPr lang="en-IN" sz="2000"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cs typeface="Segoe UI Semibold" panose="020B0702040204020203" pitchFamily="34" charset="0"/>
            </a:endParaRPr>
          </a:p>
        </p:txBody>
      </p:sp>
      <p:pic>
        <p:nvPicPr>
          <p:cNvPr id="7" name="Graphic 6" descr="Single gear">
            <a:extLst>
              <a:ext uri="{FF2B5EF4-FFF2-40B4-BE49-F238E27FC236}">
                <a16:creationId xmlns:a16="http://schemas.microsoft.com/office/drawing/2014/main" id="{AC896B32-3833-3D71-E163-D4DC12B5D7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1221" y="1502790"/>
            <a:ext cx="752721" cy="752721"/>
          </a:xfrm>
          <a:prstGeom prst="rect">
            <a:avLst/>
          </a:prstGeom>
        </p:spPr>
      </p:pic>
      <p:pic>
        <p:nvPicPr>
          <p:cNvPr id="9" name="Graphic 8" descr="Add">
            <a:extLst>
              <a:ext uri="{FF2B5EF4-FFF2-40B4-BE49-F238E27FC236}">
                <a16:creationId xmlns:a16="http://schemas.microsoft.com/office/drawing/2014/main" id="{7EEDC250-9B38-BABF-4A79-ECC91E81F1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00424" y="1974678"/>
            <a:ext cx="366411" cy="366411"/>
          </a:xfrm>
          <a:prstGeom prst="rect">
            <a:avLst/>
          </a:prstGeom>
        </p:spPr>
      </p:pic>
      <p:pic>
        <p:nvPicPr>
          <p:cNvPr id="18" name="Graphic 17" descr="Lightning bolt">
            <a:extLst>
              <a:ext uri="{FF2B5EF4-FFF2-40B4-BE49-F238E27FC236}">
                <a16:creationId xmlns:a16="http://schemas.microsoft.com/office/drawing/2014/main" id="{C8A4486C-BB56-C75B-7E7F-E131EAE76CE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63182" y="1611149"/>
            <a:ext cx="667911" cy="667911"/>
          </a:xfrm>
          <a:prstGeom prst="rect">
            <a:avLst/>
          </a:prstGeom>
        </p:spPr>
      </p:pic>
      <p:pic>
        <p:nvPicPr>
          <p:cNvPr id="26" name="Graphic 25" descr="Brain">
            <a:extLst>
              <a:ext uri="{FF2B5EF4-FFF2-40B4-BE49-F238E27FC236}">
                <a16:creationId xmlns:a16="http://schemas.microsoft.com/office/drawing/2014/main" id="{BAED95E0-37C3-DD45-4F06-4471EC90EB6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19958" y="1350050"/>
            <a:ext cx="657497" cy="657497"/>
          </a:xfrm>
          <a:prstGeom prst="rect">
            <a:avLst/>
          </a:prstGeom>
        </p:spPr>
      </p:pic>
      <p:pic>
        <p:nvPicPr>
          <p:cNvPr id="28" name="Graphic 27" descr="Upward trend">
            <a:extLst>
              <a:ext uri="{FF2B5EF4-FFF2-40B4-BE49-F238E27FC236}">
                <a16:creationId xmlns:a16="http://schemas.microsoft.com/office/drawing/2014/main" id="{0AC5B4FC-EDA3-245D-9904-18D49670D91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56685" y="1541418"/>
            <a:ext cx="714094" cy="714094"/>
          </a:xfrm>
          <a:prstGeom prst="rect">
            <a:avLst/>
          </a:prstGeom>
        </p:spPr>
      </p:pic>
      <p:pic>
        <p:nvPicPr>
          <p:cNvPr id="30" name="Graphic 29" descr="Tools">
            <a:extLst>
              <a:ext uri="{FF2B5EF4-FFF2-40B4-BE49-F238E27FC236}">
                <a16:creationId xmlns:a16="http://schemas.microsoft.com/office/drawing/2014/main" id="{80A70CB9-F0FF-26D5-027D-25E5240E8F2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583045" y="1951453"/>
            <a:ext cx="408433" cy="408433"/>
          </a:xfrm>
          <a:prstGeom prst="rect">
            <a:avLst/>
          </a:prstGeom>
        </p:spPr>
      </p:pic>
    </p:spTree>
    <p:extLst>
      <p:ext uri="{BB962C8B-B14F-4D97-AF65-F5344CB8AC3E}">
        <p14:creationId xmlns:p14="http://schemas.microsoft.com/office/powerpoint/2010/main" val="29837017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P spid="10" grpId="0"/>
      <p:bldP spid="11" grpId="0" animBg="1"/>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ABE7A6-3710-F506-69B8-7A96233F4A7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rot="582488">
            <a:off x="4958043" y="1163079"/>
            <a:ext cx="11174210" cy="6099985"/>
          </a:xfrm>
          <a:prstGeom prst="rect">
            <a:avLst/>
          </a:prstGeom>
          <a:effectLst>
            <a:softEdge rad="12700"/>
          </a:effectLst>
        </p:spPr>
      </p:pic>
      <p:sp>
        <p:nvSpPr>
          <p:cNvPr id="8" name="Title 1">
            <a:extLst>
              <a:ext uri="{FF2B5EF4-FFF2-40B4-BE49-F238E27FC236}">
                <a16:creationId xmlns:a16="http://schemas.microsoft.com/office/drawing/2014/main" id="{4CA4BF0A-5793-70A5-140F-89C357F7F11D}"/>
              </a:ext>
            </a:extLst>
          </p:cNvPr>
          <p:cNvSpPr txBox="1">
            <a:spLocks/>
          </p:cNvSpPr>
          <p:nvPr/>
        </p:nvSpPr>
        <p:spPr>
          <a:xfrm>
            <a:off x="379638" y="289077"/>
            <a:ext cx="10069287" cy="710142"/>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000" dirty="0">
                <a:solidFill>
                  <a:schemeClr val="bg1"/>
                </a:solidFill>
                <a:latin typeface="Segoe UI Semibold" panose="020B0702040204020203" pitchFamily="34" charset="0"/>
                <a:cs typeface="Segoe UI Semibold" panose="020B0702040204020203" pitchFamily="34" charset="0"/>
              </a:rPr>
              <a:t>SpinSafe : The Bottom Line </a:t>
            </a:r>
          </a:p>
        </p:txBody>
      </p:sp>
      <p:cxnSp>
        <p:nvCxnSpPr>
          <p:cNvPr id="9" name="Straight Connector 8">
            <a:extLst>
              <a:ext uri="{FF2B5EF4-FFF2-40B4-BE49-F238E27FC236}">
                <a16:creationId xmlns:a16="http://schemas.microsoft.com/office/drawing/2014/main" id="{4DB2C817-2FEB-71BA-935F-CA16E11B6194}"/>
              </a:ext>
            </a:extLst>
          </p:cNvPr>
          <p:cNvCxnSpPr>
            <a:cxnSpLocks/>
          </p:cNvCxnSpPr>
          <p:nvPr/>
        </p:nvCxnSpPr>
        <p:spPr>
          <a:xfrm>
            <a:off x="410481" y="1073451"/>
            <a:ext cx="653460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99908C24-6A9F-05FA-BBD4-EFB00F1E538C}"/>
              </a:ext>
            </a:extLst>
          </p:cNvPr>
          <p:cNvSpPr/>
          <p:nvPr/>
        </p:nvSpPr>
        <p:spPr>
          <a:xfrm>
            <a:off x="410481" y="1323975"/>
            <a:ext cx="3750039" cy="4460572"/>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E9665D4D-A712-80DB-3EC8-6B17DE92D6DE}"/>
              </a:ext>
            </a:extLst>
          </p:cNvPr>
          <p:cNvSpPr/>
          <p:nvPr/>
        </p:nvSpPr>
        <p:spPr>
          <a:xfrm>
            <a:off x="4523734" y="1323982"/>
            <a:ext cx="3275966" cy="4460565"/>
          </a:xfrm>
          <a:prstGeom prst="roundRect">
            <a:avLst/>
          </a:prstGeom>
          <a:solidFill>
            <a:srgbClr val="000066">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97A8932-2C4B-0348-8EAC-02E784F3724F}"/>
              </a:ext>
            </a:extLst>
          </p:cNvPr>
          <p:cNvSpPr txBox="1"/>
          <p:nvPr/>
        </p:nvSpPr>
        <p:spPr>
          <a:xfrm>
            <a:off x="410481" y="1488012"/>
            <a:ext cx="3750039" cy="400110"/>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The ROI Breakdown</a:t>
            </a:r>
          </a:p>
        </p:txBody>
      </p:sp>
      <p:sp>
        <p:nvSpPr>
          <p:cNvPr id="13" name="TextBox 12">
            <a:extLst>
              <a:ext uri="{FF2B5EF4-FFF2-40B4-BE49-F238E27FC236}">
                <a16:creationId xmlns:a16="http://schemas.microsoft.com/office/drawing/2014/main" id="{0E896699-271E-F127-3A42-227F3FCA65A0}"/>
              </a:ext>
            </a:extLst>
          </p:cNvPr>
          <p:cNvSpPr txBox="1"/>
          <p:nvPr/>
        </p:nvSpPr>
        <p:spPr>
          <a:xfrm>
            <a:off x="506704" y="2052159"/>
            <a:ext cx="3557591" cy="3554819"/>
          </a:xfrm>
          <a:prstGeom prst="rect">
            <a:avLst/>
          </a:prstGeom>
          <a:noFill/>
        </p:spPr>
        <p:txBody>
          <a:bodyPr wrap="square">
            <a:spAutoFit/>
          </a:bodyPr>
          <a:lstStyle/>
          <a:p>
            <a:pPr marL="285750" indent="-285750">
              <a:buFont typeface="Arial" panose="020B0604020202020204" pitchFamily="34" charset="0"/>
              <a:buChar char="•"/>
            </a:pPr>
            <a:r>
              <a:rPr lang="en-IN" sz="1500" b="1" dirty="0">
                <a:solidFill>
                  <a:schemeClr val="bg1"/>
                </a:solidFill>
                <a:latin typeface="Segoe UI" panose="020B0502040204020203" pitchFamily="34" charset="0"/>
                <a:cs typeface="Segoe UI" panose="020B0502040204020203" pitchFamily="34" charset="0"/>
              </a:rPr>
              <a:t>Node Cost : </a:t>
            </a:r>
            <a:br>
              <a:rPr lang="en-IN" sz="1500" dirty="0">
                <a:solidFill>
                  <a:schemeClr val="bg1"/>
                </a:solidFill>
                <a:latin typeface="Segoe UI" panose="020B0502040204020203" pitchFamily="34" charset="0"/>
                <a:cs typeface="Segoe UI" panose="020B0502040204020203" pitchFamily="34" charset="0"/>
              </a:rPr>
            </a:br>
            <a:r>
              <a:rPr lang="en-IN" sz="1500" b="1" dirty="0">
                <a:solidFill>
                  <a:schemeClr val="bg1"/>
                </a:solidFill>
                <a:latin typeface="Segoe UI" panose="020B0502040204020203" pitchFamily="34" charset="0"/>
                <a:cs typeface="Segoe UI" panose="020B0502040204020203" pitchFamily="34" charset="0"/>
              </a:rPr>
              <a:t>~$15 per unit </a:t>
            </a:r>
            <a:r>
              <a:rPr lang="en-IN" sz="1500" dirty="0">
                <a:solidFill>
                  <a:schemeClr val="bg1"/>
                </a:solidFill>
                <a:latin typeface="Segoe UI" panose="020B0502040204020203" pitchFamily="34" charset="0"/>
                <a:cs typeface="Segoe UI" panose="020B0502040204020203" pitchFamily="34" charset="0"/>
              </a:rPr>
              <a:t>(ESP32, MPU6050, Thermal Probe, Relay).</a:t>
            </a:r>
          </a:p>
          <a:p>
            <a:pPr marL="285750" indent="-285750">
              <a:buFont typeface="Arial" panose="020B0604020202020204" pitchFamily="34" charset="0"/>
              <a:buChar char="•"/>
            </a:pPr>
            <a:endParaRPr lang="en-IN" sz="15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500" b="1" dirty="0">
                <a:solidFill>
                  <a:schemeClr val="bg1"/>
                </a:solidFill>
                <a:latin typeface="Segoe UI" panose="020B0502040204020203" pitchFamily="34" charset="0"/>
                <a:cs typeface="Segoe UI" panose="020B0502040204020203" pitchFamily="34" charset="0"/>
              </a:rPr>
              <a:t>Value Protected: </a:t>
            </a:r>
            <a:r>
              <a:rPr lang="en-US" sz="1500" dirty="0">
                <a:solidFill>
                  <a:schemeClr val="bg1"/>
                </a:solidFill>
                <a:latin typeface="Segoe UI" panose="020B0502040204020203" pitchFamily="34" charset="0"/>
                <a:cs typeface="Segoe UI" panose="020B0502040204020203" pitchFamily="34" charset="0"/>
              </a:rPr>
              <a:t>Eradicates the </a:t>
            </a:r>
            <a:r>
              <a:rPr lang="en-US" sz="1500" b="1" dirty="0">
                <a:solidFill>
                  <a:schemeClr val="bg1"/>
                </a:solidFill>
                <a:latin typeface="Segoe UI" panose="020B0502040204020203" pitchFamily="34" charset="0"/>
                <a:cs typeface="Segoe UI" panose="020B0502040204020203" pitchFamily="34" charset="0"/>
              </a:rPr>
              <a:t>$22,000/minute </a:t>
            </a:r>
            <a:r>
              <a:rPr lang="en-US" sz="1500" dirty="0">
                <a:solidFill>
                  <a:schemeClr val="bg1"/>
                </a:solidFill>
                <a:latin typeface="Segoe UI" panose="020B0502040204020203" pitchFamily="34" charset="0"/>
                <a:cs typeface="Segoe UI" panose="020B0502040204020203" pitchFamily="34" charset="0"/>
              </a:rPr>
              <a:t>industry average cost of unplanned downtime.</a:t>
            </a:r>
          </a:p>
          <a:p>
            <a:pPr marL="285750" indent="-285750">
              <a:buFont typeface="Arial" panose="020B0604020202020204" pitchFamily="34" charset="0"/>
              <a:buChar char="•"/>
            </a:pPr>
            <a:endParaRPr lang="en-US" sz="15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500" b="1" dirty="0">
                <a:solidFill>
                  <a:schemeClr val="bg1"/>
                </a:solidFill>
                <a:latin typeface="Segoe UI" panose="020B0502040204020203" pitchFamily="34" charset="0"/>
                <a:cs typeface="Segoe UI" panose="020B0502040204020203" pitchFamily="34" charset="0"/>
              </a:rPr>
              <a:t>The ROI: </a:t>
            </a:r>
            <a:r>
              <a:rPr lang="en-US" sz="1500" dirty="0">
                <a:solidFill>
                  <a:schemeClr val="bg1"/>
                </a:solidFill>
                <a:latin typeface="Segoe UI" panose="020B0502040204020203" pitchFamily="34" charset="0"/>
                <a:cs typeface="Segoe UI" panose="020B0502040204020203" pitchFamily="34" charset="0"/>
              </a:rPr>
              <a:t>Instantaneous. Preventing a single 5-minute stall</a:t>
            </a:r>
            <a:r>
              <a:rPr lang="en-US" sz="1500" b="1" dirty="0">
                <a:solidFill>
                  <a:schemeClr val="bg1"/>
                </a:solidFill>
                <a:latin typeface="Segoe UI" panose="020B0502040204020203" pitchFamily="34" charset="0"/>
                <a:cs typeface="Segoe UI" panose="020B0502040204020203" pitchFamily="34" charset="0"/>
              </a:rPr>
              <a:t> saves $110,000 on </a:t>
            </a:r>
            <a:r>
              <a:rPr lang="en-US" sz="1500" b="1">
                <a:solidFill>
                  <a:schemeClr val="bg1"/>
                </a:solidFill>
                <a:latin typeface="Segoe UI" panose="020B0502040204020203" pitchFamily="34" charset="0"/>
                <a:cs typeface="Segoe UI" panose="020B0502040204020203" pitchFamily="34" charset="0"/>
              </a:rPr>
              <a:t>a $15 </a:t>
            </a:r>
            <a:r>
              <a:rPr lang="en-US" sz="1500" b="1" dirty="0">
                <a:solidFill>
                  <a:schemeClr val="bg1"/>
                </a:solidFill>
                <a:latin typeface="Segoe UI" panose="020B0502040204020203" pitchFamily="34" charset="0"/>
                <a:cs typeface="Segoe UI" panose="020B0502040204020203" pitchFamily="34" charset="0"/>
              </a:rPr>
              <a:t>hardware </a:t>
            </a:r>
            <a:r>
              <a:rPr lang="en-US" sz="1500" dirty="0">
                <a:solidFill>
                  <a:schemeClr val="bg1"/>
                </a:solidFill>
                <a:latin typeface="Segoe UI" panose="020B0502040204020203" pitchFamily="34" charset="0"/>
                <a:cs typeface="Segoe UI" panose="020B0502040204020203" pitchFamily="34" charset="0"/>
              </a:rPr>
              <a:t>investment.</a:t>
            </a:r>
          </a:p>
          <a:p>
            <a:pPr marL="285750" indent="-285750">
              <a:buFont typeface="Arial" panose="020B0604020202020204" pitchFamily="34" charset="0"/>
              <a:buChar char="•"/>
            </a:pPr>
            <a:endParaRPr lang="en-US" sz="15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500" b="1" dirty="0">
                <a:solidFill>
                  <a:schemeClr val="bg1"/>
                </a:solidFill>
                <a:latin typeface="Segoe UI" panose="020B0502040204020203" pitchFamily="34" charset="0"/>
                <a:cs typeface="Segoe UI" panose="020B0502040204020203" pitchFamily="34" charset="0"/>
              </a:rPr>
              <a:t>Deployment: 100% retrofittable </a:t>
            </a:r>
            <a:r>
              <a:rPr lang="en-US" sz="1500" dirty="0">
                <a:solidFill>
                  <a:schemeClr val="bg1"/>
                </a:solidFill>
                <a:latin typeface="Segoe UI" panose="020B0502040204020203" pitchFamily="34" charset="0"/>
                <a:cs typeface="Segoe UI" panose="020B0502040204020203" pitchFamily="34" charset="0"/>
              </a:rPr>
              <a:t>= zero friction to scale.</a:t>
            </a:r>
            <a:endParaRPr lang="en-IN" sz="1500" dirty="0">
              <a:solidFill>
                <a:schemeClr val="bg1"/>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3B79C2AC-C1D0-9B1A-8B78-1EBBD792C798}"/>
              </a:ext>
            </a:extLst>
          </p:cNvPr>
          <p:cNvSpPr txBox="1"/>
          <p:nvPr/>
        </p:nvSpPr>
        <p:spPr>
          <a:xfrm>
            <a:off x="4523734" y="1488021"/>
            <a:ext cx="3275966" cy="400110"/>
          </a:xfrm>
          <a:prstGeom prst="rect">
            <a:avLst/>
          </a:prstGeom>
          <a:noFill/>
        </p:spPr>
        <p:txBody>
          <a:bodyPr wrap="square">
            <a:spAutoFit/>
          </a:bodyPr>
          <a:lstStyle/>
          <a:p>
            <a:pPr algn="ctr"/>
            <a:r>
              <a:rPr lang="en-IN" sz="2000" b="1" dirty="0">
                <a:solidFill>
                  <a:srgbClr val="FFC000"/>
                </a:solidFill>
                <a:latin typeface="Segoe UI Semibold" panose="020B0702040204020203" pitchFamily="34" charset="0"/>
                <a:cs typeface="Segoe UI Semibold" panose="020B0702040204020203" pitchFamily="34" charset="0"/>
              </a:rPr>
              <a:t>What's Next?</a:t>
            </a:r>
          </a:p>
        </p:txBody>
      </p:sp>
      <p:sp>
        <p:nvSpPr>
          <p:cNvPr id="21" name="TextBox 20">
            <a:extLst>
              <a:ext uri="{FF2B5EF4-FFF2-40B4-BE49-F238E27FC236}">
                <a16:creationId xmlns:a16="http://schemas.microsoft.com/office/drawing/2014/main" id="{9C403749-3665-437A-C192-93CE27597A79}"/>
              </a:ext>
            </a:extLst>
          </p:cNvPr>
          <p:cNvSpPr txBox="1"/>
          <p:nvPr/>
        </p:nvSpPr>
        <p:spPr>
          <a:xfrm>
            <a:off x="4619957" y="2058929"/>
            <a:ext cx="3036052" cy="3554819"/>
          </a:xfrm>
          <a:prstGeom prst="rect">
            <a:avLst/>
          </a:prstGeom>
          <a:noFill/>
        </p:spPr>
        <p:txBody>
          <a:bodyPr wrap="square">
            <a:spAutoFit/>
          </a:bodyPr>
          <a:lstStyle/>
          <a:p>
            <a:pPr marL="285750" indent="-285750">
              <a:buFont typeface="Arial" panose="020B0604020202020204" pitchFamily="34" charset="0"/>
              <a:buChar char="•"/>
            </a:pPr>
            <a:r>
              <a:rPr lang="en-IN" sz="1500" b="1" dirty="0">
                <a:solidFill>
                  <a:schemeClr val="bg1"/>
                </a:solidFill>
                <a:latin typeface="Segoe UI" panose="020B0502040204020203" pitchFamily="34" charset="0"/>
                <a:cs typeface="Segoe UI" panose="020B0502040204020203" pitchFamily="34" charset="0"/>
              </a:rPr>
              <a:t>Custom PCB Fabrication: </a:t>
            </a:r>
            <a:r>
              <a:rPr lang="en-IN" sz="1500" dirty="0">
                <a:solidFill>
                  <a:schemeClr val="bg1"/>
                </a:solidFill>
                <a:latin typeface="Segoe UI" panose="020B0502040204020203" pitchFamily="34" charset="0"/>
                <a:cs typeface="Segoe UI" panose="020B0502040204020203" pitchFamily="34" charset="0"/>
              </a:rPr>
              <a:t>Miniaturizing the ESP32 and relay into a single, ruggedized industrial enclosure.</a:t>
            </a:r>
          </a:p>
          <a:p>
            <a:pPr marL="285750" indent="-285750">
              <a:buFont typeface="Arial" panose="020B0604020202020204" pitchFamily="34" charset="0"/>
              <a:buChar char="•"/>
            </a:pPr>
            <a:endParaRPr lang="en-IN" sz="15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IN" sz="1500" b="1" dirty="0">
                <a:solidFill>
                  <a:schemeClr val="bg1"/>
                </a:solidFill>
                <a:latin typeface="Segoe UI" panose="020B0502040204020203" pitchFamily="34" charset="0"/>
                <a:cs typeface="Segoe UI" panose="020B0502040204020203" pitchFamily="34" charset="0"/>
              </a:rPr>
              <a:t>Acoustic ML Models: </a:t>
            </a:r>
            <a:r>
              <a:rPr lang="en-IN" sz="1500" dirty="0">
                <a:solidFill>
                  <a:schemeClr val="bg1"/>
                </a:solidFill>
                <a:latin typeface="Segoe UI" panose="020B0502040204020203" pitchFamily="34" charset="0"/>
                <a:cs typeface="Segoe UI" panose="020B0502040204020203" pitchFamily="34" charset="0"/>
              </a:rPr>
              <a:t>Expanding the </a:t>
            </a:r>
            <a:r>
              <a:rPr lang="en-IN" sz="1500" dirty="0" err="1">
                <a:solidFill>
                  <a:schemeClr val="bg1"/>
                </a:solidFill>
                <a:latin typeface="Segoe UI" panose="020B0502040204020203" pitchFamily="34" charset="0"/>
                <a:cs typeface="Segoe UI" panose="020B0502040204020203" pitchFamily="34" charset="0"/>
              </a:rPr>
              <a:t>TinyML</a:t>
            </a:r>
            <a:r>
              <a:rPr lang="en-IN" sz="1500" dirty="0">
                <a:solidFill>
                  <a:schemeClr val="bg1"/>
                </a:solidFill>
                <a:latin typeface="Segoe UI" panose="020B0502040204020203" pitchFamily="34" charset="0"/>
                <a:cs typeface="Segoe UI" panose="020B0502040204020203" pitchFamily="34" charset="0"/>
              </a:rPr>
              <a:t> dataset to include audio anomaly detection (listening for bearing whines).</a:t>
            </a:r>
          </a:p>
          <a:p>
            <a:pPr marL="285750" indent="-285750">
              <a:buFont typeface="Arial" panose="020B0604020202020204" pitchFamily="34" charset="0"/>
              <a:buChar char="•"/>
            </a:pPr>
            <a:endParaRPr lang="en-IN" sz="15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IN" sz="1500" b="1" dirty="0">
                <a:solidFill>
                  <a:schemeClr val="bg1"/>
                </a:solidFill>
                <a:latin typeface="Segoe UI" panose="020B0502040204020203" pitchFamily="34" charset="0"/>
                <a:cs typeface="Segoe UI" panose="020B0502040204020203" pitchFamily="34" charset="0"/>
              </a:rPr>
              <a:t>Pilot Testing: </a:t>
            </a:r>
            <a:r>
              <a:rPr lang="en-IN" sz="1500" dirty="0">
                <a:solidFill>
                  <a:schemeClr val="bg1"/>
                </a:solidFill>
                <a:latin typeface="Segoe UI" panose="020B0502040204020203" pitchFamily="34" charset="0"/>
                <a:cs typeface="Segoe UI" panose="020B0502040204020203" pitchFamily="34" charset="0"/>
              </a:rPr>
              <a:t>Deploying V2 nodes on real-world industrial HVAC and CNC spindle motors.</a:t>
            </a:r>
          </a:p>
        </p:txBody>
      </p:sp>
      <p:sp>
        <p:nvSpPr>
          <p:cNvPr id="24" name="TextBox 23">
            <a:extLst>
              <a:ext uri="{FF2B5EF4-FFF2-40B4-BE49-F238E27FC236}">
                <a16:creationId xmlns:a16="http://schemas.microsoft.com/office/drawing/2014/main" id="{2FD74AB1-5836-C246-DA99-FD6DBAA3C8E7}"/>
              </a:ext>
            </a:extLst>
          </p:cNvPr>
          <p:cNvSpPr txBox="1"/>
          <p:nvPr/>
        </p:nvSpPr>
        <p:spPr>
          <a:xfrm>
            <a:off x="279853" y="6035061"/>
            <a:ext cx="8309610" cy="400110"/>
          </a:xfrm>
          <a:prstGeom prst="rect">
            <a:avLst/>
          </a:prstGeom>
          <a:noFill/>
        </p:spPr>
        <p:txBody>
          <a:bodyPr wrap="square">
            <a:spAutoFit/>
          </a:bodyPr>
          <a:lstStyle/>
          <a:p>
            <a:pPr algn="ctr"/>
            <a:r>
              <a:rPr lang="en-US" sz="2000"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rPr>
              <a:t>Industrial safety that pays for itself the millisecond it deploys.</a:t>
            </a:r>
            <a:endParaRPr lang="en-IN" sz="2000"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1489577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0B4C8"/>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C7DD2CEC-FA4D-4BFA-095D-EC8D152DC88D}"/>
              </a:ext>
            </a:extLst>
          </p:cNvPr>
          <p:cNvCxnSpPr>
            <a:cxnSpLocks/>
          </p:cNvCxnSpPr>
          <p:nvPr/>
        </p:nvCxnSpPr>
        <p:spPr>
          <a:xfrm>
            <a:off x="2743200" y="5014080"/>
            <a:ext cx="9190719"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39F89638-F05C-A9D9-5F70-D38F01300CF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615" b="99476" l="98" r="99805">
                        <a14:foregroundMark x1="195" y1="83042" x2="18164" y2="81993"/>
                        <a14:foregroundMark x1="18164" y1="81993" x2="42188" y2="82343"/>
                        <a14:foregroundMark x1="42188" y1="82343" x2="46257" y2="81797"/>
                        <a14:foregroundMark x1="67595" y1="86088" x2="71289" y2="98252"/>
                        <a14:foregroundMark x1="71289" y1="98252" x2="71387" y2="99650"/>
                        <a14:foregroundMark x1="9570" y1="83217" x2="195" y2="81993"/>
                        <a14:foregroundMark x1="391" y1="83042" x2="17578" y2="92657"/>
                        <a14:foregroundMark x1="17578" y1="92657" x2="21094" y2="99301"/>
                        <a14:foregroundMark x1="88086" y1="67483" x2="92208" y2="75335"/>
                        <a14:foregroundMark x1="96480" y1="81993" x2="99805" y2="81993"/>
                        <a14:foregroundMark x1="96136" y1="81993" x2="96270" y2="81993"/>
                        <a14:foregroundMark x1="83301" y1="58042" x2="79732" y2="55913"/>
                        <a14:foregroundMark x1="80560" y1="58217" x2="83105" y2="58217"/>
                        <a14:foregroundMark x1="45313" y1="81818" x2="57031" y2="82867"/>
                        <a14:foregroundMark x1="57031" y1="82867" x2="60156" y2="82692"/>
                        <a14:foregroundMark x1="44141" y1="82692" x2="48926" y2="83042"/>
                        <a14:foregroundMark x1="65625" y1="82517" x2="67969" y2="82343"/>
                        <a14:foregroundMark x1="94043" y1="82867" x2="99023" y2="83217"/>
                        <a14:backgroundMark x1="66123" y1="81081" x2="60617" y2="81369"/>
                        <a14:backgroundMark x1="68750" y1="80944" x2="68448" y2="80960"/>
                        <a14:backgroundMark x1="61672" y1="78344" x2="66211" y2="78497"/>
                        <a14:backgroundMark x1="66211" y1="78497" x2="66561" y2="79818"/>
                        <a14:backgroundMark x1="95029" y1="80163" x2="92383" y2="76049"/>
                        <a14:backgroundMark x1="92383" y1="76049" x2="95029" y2="80163"/>
                        <a14:backgroundMark x1="84766" y1="61888" x2="84475" y2="62018"/>
                        <a14:backgroundMark x1="83008" y1="65035" x2="83105" y2="65210"/>
                        <a14:backgroundMark x1="79492" y1="55245" x2="73145" y2="55420"/>
                        <a14:backgroundMark x1="73438" y1="56469" x2="73047" y2="56119"/>
                      </a14:backgroundRemoval>
                    </a14:imgEffect>
                  </a14:imgLayer>
                </a14:imgProps>
              </a:ext>
            </a:extLst>
          </a:blip>
          <a:srcRect t="50263" r="6250"/>
          <a:stretch>
            <a:fillRect/>
          </a:stretch>
        </p:blipFill>
        <p:spPr>
          <a:xfrm flipH="1">
            <a:off x="0" y="4114800"/>
            <a:ext cx="12192000" cy="2743200"/>
          </a:xfrm>
          <a:prstGeom prst="rect">
            <a:avLst/>
          </a:prstGeom>
        </p:spPr>
      </p:pic>
      <p:sp>
        <p:nvSpPr>
          <p:cNvPr id="4" name="Title 1">
            <a:extLst>
              <a:ext uri="{FF2B5EF4-FFF2-40B4-BE49-F238E27FC236}">
                <a16:creationId xmlns:a16="http://schemas.microsoft.com/office/drawing/2014/main" id="{482C7AB6-2E73-A80E-DCCD-A8BE301E5C7C}"/>
              </a:ext>
            </a:extLst>
          </p:cNvPr>
          <p:cNvSpPr txBox="1">
            <a:spLocks/>
          </p:cNvSpPr>
          <p:nvPr/>
        </p:nvSpPr>
        <p:spPr>
          <a:xfrm>
            <a:off x="379638" y="289077"/>
            <a:ext cx="10069287" cy="710142"/>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US" sz="4000" dirty="0">
                <a:solidFill>
                  <a:schemeClr val="bg1"/>
                </a:solidFill>
                <a:latin typeface="Segoe UI Semibold" panose="020B0702040204020203" pitchFamily="34" charset="0"/>
                <a:cs typeface="Segoe UI Semibold" panose="020B0702040204020203" pitchFamily="34" charset="0"/>
              </a:rPr>
              <a:t>Conclusion: The Catalyst for Industry 4.0</a:t>
            </a:r>
            <a:endParaRPr lang="en-IN" sz="4000" dirty="0">
              <a:solidFill>
                <a:schemeClr val="bg1"/>
              </a:solidFill>
              <a:latin typeface="Segoe UI Semibold" panose="020B0702040204020203" pitchFamily="34" charset="0"/>
              <a:cs typeface="Segoe UI Semibold" panose="020B0702040204020203" pitchFamily="34" charset="0"/>
            </a:endParaRPr>
          </a:p>
        </p:txBody>
      </p:sp>
      <p:cxnSp>
        <p:nvCxnSpPr>
          <p:cNvPr id="5" name="Straight Connector 4">
            <a:extLst>
              <a:ext uri="{FF2B5EF4-FFF2-40B4-BE49-F238E27FC236}">
                <a16:creationId xmlns:a16="http://schemas.microsoft.com/office/drawing/2014/main" id="{49570A18-EA81-548A-ADED-F81CC57ADFD7}"/>
              </a:ext>
            </a:extLst>
          </p:cNvPr>
          <p:cNvCxnSpPr>
            <a:cxnSpLocks/>
          </p:cNvCxnSpPr>
          <p:nvPr/>
        </p:nvCxnSpPr>
        <p:spPr>
          <a:xfrm>
            <a:off x="410481" y="1073451"/>
            <a:ext cx="8838294"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D74EEBC-C1EE-2BC6-57E4-EBA60B35DF74}"/>
              </a:ext>
            </a:extLst>
          </p:cNvPr>
          <p:cNvSpPr txBox="1"/>
          <p:nvPr/>
        </p:nvSpPr>
        <p:spPr>
          <a:xfrm>
            <a:off x="410481" y="1268278"/>
            <a:ext cx="7819119" cy="400110"/>
          </a:xfrm>
          <a:prstGeom prst="rect">
            <a:avLst/>
          </a:prstGeom>
          <a:noFill/>
        </p:spPr>
        <p:txBody>
          <a:bodyPr wrap="square">
            <a:spAutoFit/>
          </a:bodyPr>
          <a:lstStyle/>
          <a:p>
            <a:r>
              <a:rPr lang="en-US" sz="2000" dirty="0">
                <a:solidFill>
                  <a:srgbClr val="002060"/>
                </a:solidFill>
                <a:latin typeface="Segoe UI Semibold" panose="020B0702040204020203" pitchFamily="34" charset="0"/>
                <a:ea typeface="Segoe UI Black" panose="020B0A02040204020203" pitchFamily="34" charset="0"/>
                <a:cs typeface="Segoe UI Semibold" panose="020B0702040204020203" pitchFamily="34" charset="0"/>
              </a:rPr>
              <a:t>Sometimes, the smallest retrofit creates the largest revolution.</a:t>
            </a:r>
            <a:endParaRPr lang="en-IN" sz="2000" dirty="0">
              <a:solidFill>
                <a:srgbClr val="00206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 name="TextBox 5">
            <a:extLst>
              <a:ext uri="{FF2B5EF4-FFF2-40B4-BE49-F238E27FC236}">
                <a16:creationId xmlns:a16="http://schemas.microsoft.com/office/drawing/2014/main" id="{EAC53204-175A-DA61-1D58-C068EE863B9B}"/>
              </a:ext>
            </a:extLst>
          </p:cNvPr>
          <p:cNvSpPr txBox="1"/>
          <p:nvPr/>
        </p:nvSpPr>
        <p:spPr>
          <a:xfrm>
            <a:off x="379638" y="2042551"/>
            <a:ext cx="3454311" cy="707886"/>
          </a:xfrm>
          <a:prstGeom prst="rect">
            <a:avLst/>
          </a:prstGeom>
          <a:noFill/>
        </p:spPr>
        <p:txBody>
          <a:bodyPr wrap="square">
            <a:spAutoFit/>
          </a:bodyPr>
          <a:lstStyle/>
          <a:p>
            <a:r>
              <a:rPr lang="en-IN" sz="2000" b="1" dirty="0">
                <a:solidFill>
                  <a:srgbClr val="FFC000"/>
                </a:solidFill>
                <a:latin typeface="Segoe UI" panose="020B0502040204020203" pitchFamily="34" charset="0"/>
                <a:cs typeface="Segoe UI" panose="020B0502040204020203" pitchFamily="34" charset="0"/>
              </a:rPr>
              <a:t>Redefining Maintenance : </a:t>
            </a:r>
            <a:br>
              <a:rPr lang="en-IN" sz="2000" b="1" dirty="0">
                <a:solidFill>
                  <a:srgbClr val="FFC000"/>
                </a:solidFill>
                <a:latin typeface="Segoe UI" panose="020B0502040204020203" pitchFamily="34" charset="0"/>
                <a:cs typeface="Segoe UI" panose="020B0502040204020203" pitchFamily="34" charset="0"/>
              </a:rPr>
            </a:br>
            <a:r>
              <a:rPr lang="en-IN" sz="2000" b="1" dirty="0">
                <a:solidFill>
                  <a:srgbClr val="FFC000"/>
                </a:solidFill>
                <a:latin typeface="Segoe UI" panose="020B0502040204020203" pitchFamily="34" charset="0"/>
                <a:cs typeface="Segoe UI" panose="020B0502040204020203" pitchFamily="34" charset="0"/>
              </a:rPr>
              <a:t>The End of "Run-to-Failure</a:t>
            </a:r>
          </a:p>
        </p:txBody>
      </p:sp>
      <p:sp>
        <p:nvSpPr>
          <p:cNvPr id="7" name="Rectangle 1">
            <a:extLst>
              <a:ext uri="{FF2B5EF4-FFF2-40B4-BE49-F238E27FC236}">
                <a16:creationId xmlns:a16="http://schemas.microsoft.com/office/drawing/2014/main" id="{79AD86A6-1ECB-4F9A-45F1-A3C936AA4EC2}"/>
              </a:ext>
            </a:extLst>
          </p:cNvPr>
          <p:cNvSpPr>
            <a:spLocks noChangeArrowheads="1"/>
          </p:cNvSpPr>
          <p:nvPr/>
        </p:nvSpPr>
        <p:spPr bwMode="auto">
          <a:xfrm>
            <a:off x="410481" y="2965423"/>
            <a:ext cx="370431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5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We are fundamentally changing maintenance from a reactive emergency to a predictable science. By catching minute faults at the edge, machines now speak for themselves </a:t>
            </a:r>
            <a:r>
              <a:rPr kumimoji="0" lang="en-US" altLang="en-US" sz="1500" b="0" i="1" u="none" strike="noStrike" cap="none" normalizeH="0" baseline="0" dirty="0">
                <a:ln>
                  <a:noFill/>
                </a:ln>
                <a:solidFill>
                  <a:schemeClr val="bg1"/>
                </a:solidFill>
                <a:effectLst/>
                <a:latin typeface="Segoe UI" panose="020B0502040204020203" pitchFamily="34" charset="0"/>
                <a:cs typeface="Segoe UI" panose="020B0502040204020203" pitchFamily="34" charset="0"/>
              </a:rPr>
              <a:t>before</a:t>
            </a:r>
            <a:r>
              <a:rPr kumimoji="0" lang="en-US" altLang="en-US" sz="15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they break.</a:t>
            </a:r>
          </a:p>
          <a:p>
            <a:pPr marR="0" lvl="0" algn="l" defTabSz="9144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4178B003-D9B5-A3EA-297A-892586C4176E}"/>
              </a:ext>
            </a:extLst>
          </p:cNvPr>
          <p:cNvSpPr txBox="1"/>
          <p:nvPr/>
        </p:nvSpPr>
        <p:spPr>
          <a:xfrm>
            <a:off x="4754064" y="2265569"/>
            <a:ext cx="2612571" cy="400110"/>
          </a:xfrm>
          <a:prstGeom prst="rect">
            <a:avLst/>
          </a:prstGeom>
          <a:noFill/>
        </p:spPr>
        <p:txBody>
          <a:bodyPr wrap="square">
            <a:spAutoFit/>
          </a:bodyPr>
          <a:lstStyle/>
          <a:p>
            <a:r>
              <a:rPr lang="en-IN" sz="2000" b="1" dirty="0">
                <a:solidFill>
                  <a:srgbClr val="FFC000"/>
                </a:solidFill>
                <a:latin typeface="Segoe UI" panose="020B0502040204020203" pitchFamily="34" charset="0"/>
                <a:cs typeface="Segoe UI" panose="020B0502040204020203" pitchFamily="34" charset="0"/>
              </a:rPr>
              <a:t>Beyond the Motor</a:t>
            </a:r>
          </a:p>
        </p:txBody>
      </p:sp>
      <p:sp>
        <p:nvSpPr>
          <p:cNvPr id="12" name="TextBox 11">
            <a:extLst>
              <a:ext uri="{FF2B5EF4-FFF2-40B4-BE49-F238E27FC236}">
                <a16:creationId xmlns:a16="http://schemas.microsoft.com/office/drawing/2014/main" id="{20A02B2E-F3E4-3345-0923-3F4D76187461}"/>
              </a:ext>
            </a:extLst>
          </p:cNvPr>
          <p:cNvSpPr txBox="1"/>
          <p:nvPr/>
        </p:nvSpPr>
        <p:spPr>
          <a:xfrm>
            <a:off x="4154349" y="2970349"/>
            <a:ext cx="3961811" cy="124649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The physics of mechanical failure are universal. If our </a:t>
            </a:r>
            <a:r>
              <a:rPr lang="en-US" sz="1500" dirty="0" err="1">
                <a:solidFill>
                  <a:schemeClr val="bg1"/>
                </a:solidFill>
                <a:latin typeface="Segoe UI" panose="020B0502040204020203" pitchFamily="34" charset="0"/>
                <a:cs typeface="Segoe UI" panose="020B0502040204020203" pitchFamily="34" charset="0"/>
              </a:rPr>
              <a:t>TinyML</a:t>
            </a:r>
            <a:r>
              <a:rPr lang="en-US" sz="1500" dirty="0">
                <a:solidFill>
                  <a:schemeClr val="bg1"/>
                </a:solidFill>
                <a:latin typeface="Segoe UI" panose="020B0502040204020203" pitchFamily="34" charset="0"/>
                <a:cs typeface="Segoe UI" panose="020B0502040204020203" pitchFamily="34" charset="0"/>
              </a:rPr>
              <a:t> architecture can secure a high-RPM RS 775, it can be instantly adapted for industrial water pumps, HVAC compressors, and CNC spindles too.</a:t>
            </a:r>
            <a:endParaRPr lang="en-IN" sz="1500" dirty="0">
              <a:solidFill>
                <a:schemeClr val="bg1"/>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8264B21D-5F57-4A9B-B384-484C08E8F1CA}"/>
              </a:ext>
            </a:extLst>
          </p:cNvPr>
          <p:cNvSpPr txBox="1"/>
          <p:nvPr/>
        </p:nvSpPr>
        <p:spPr>
          <a:xfrm>
            <a:off x="8536720" y="2237760"/>
            <a:ext cx="2908119" cy="400110"/>
          </a:xfrm>
          <a:prstGeom prst="rect">
            <a:avLst/>
          </a:prstGeom>
          <a:noFill/>
        </p:spPr>
        <p:txBody>
          <a:bodyPr wrap="square">
            <a:spAutoFit/>
          </a:bodyPr>
          <a:lstStyle/>
          <a:p>
            <a:r>
              <a:rPr lang="en-IN" sz="2000" b="1" dirty="0">
                <a:solidFill>
                  <a:srgbClr val="FFC000"/>
                </a:solidFill>
                <a:latin typeface="Segoe UI" panose="020B0502040204020203" pitchFamily="34" charset="0"/>
                <a:cs typeface="Segoe UI" panose="020B0502040204020203" pitchFamily="34" charset="0"/>
              </a:rPr>
              <a:t>Activating Legacy Iron</a:t>
            </a:r>
          </a:p>
        </p:txBody>
      </p:sp>
      <p:sp>
        <p:nvSpPr>
          <p:cNvPr id="16" name="TextBox 15">
            <a:extLst>
              <a:ext uri="{FF2B5EF4-FFF2-40B4-BE49-F238E27FC236}">
                <a16:creationId xmlns:a16="http://schemas.microsoft.com/office/drawing/2014/main" id="{09BD9F4F-FC45-5D88-5806-7A4B5AC40919}"/>
              </a:ext>
            </a:extLst>
          </p:cNvPr>
          <p:cNvSpPr txBox="1"/>
          <p:nvPr/>
        </p:nvSpPr>
        <p:spPr>
          <a:xfrm>
            <a:off x="8229600" y="2970349"/>
            <a:ext cx="3704319" cy="1246495"/>
          </a:xfrm>
          <a:prstGeom prst="rect">
            <a:avLst/>
          </a:prstGeom>
          <a:noFill/>
        </p:spPr>
        <p:txBody>
          <a:bodyPr wrap="square">
            <a:spAutoFit/>
          </a:bodyPr>
          <a:lstStyle/>
          <a:p>
            <a:r>
              <a:rPr lang="en-US" sz="1500" dirty="0">
                <a:solidFill>
                  <a:schemeClr val="bg1"/>
                </a:solidFill>
                <a:latin typeface="Segoe UI" panose="020B0502040204020203" pitchFamily="34" charset="0"/>
                <a:cs typeface="Segoe UI" panose="020B0502040204020203" pitchFamily="34" charset="0"/>
              </a:rPr>
              <a:t>The future isn't about throwing away functional machines to buy "smart" ones. True Industry 4.0 is about deploying edge intelligence to the millions of "dumb" machines already powering the world.</a:t>
            </a:r>
            <a:endParaRPr lang="en-IN" sz="1500" dirty="0">
              <a:solidFill>
                <a:schemeClr val="bg1"/>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BCC1B9D4-7838-A954-95E0-C119F7E611E7}"/>
              </a:ext>
            </a:extLst>
          </p:cNvPr>
          <p:cNvSpPr txBox="1"/>
          <p:nvPr/>
        </p:nvSpPr>
        <p:spPr>
          <a:xfrm>
            <a:off x="3047456" y="4516025"/>
            <a:ext cx="6097088" cy="369332"/>
          </a:xfrm>
          <a:prstGeom prst="rect">
            <a:avLst/>
          </a:prstGeom>
          <a:noFill/>
        </p:spPr>
        <p:txBody>
          <a:bodyPr wrap="square">
            <a:spAutoFit/>
          </a:bodyPr>
          <a:lstStyle/>
          <a:p>
            <a:pPr algn="ctr"/>
            <a:r>
              <a:rPr lang="en-US"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rPr>
              <a:t>Securing the future, one millisecond at a time.</a:t>
            </a:r>
            <a:endParaRPr lang="en-IN" b="1" dirty="0">
              <a:solidFill>
                <a:srgbClr val="FFFF00"/>
              </a:solidFill>
              <a:effectLst>
                <a:glow rad="228600">
                  <a:schemeClr val="accent2">
                    <a:satMod val="175000"/>
                    <a:alpha val="40000"/>
                  </a:schemeClr>
                </a:glow>
              </a:effectLst>
              <a:latin typeface="Segoe UI Black" panose="020B0A02040204020203" pitchFamily="34" charset="0"/>
              <a:ea typeface="Segoe UI Black" panose="020B0A02040204020203" pitchFamily="34" charset="0"/>
            </a:endParaRPr>
          </a:p>
        </p:txBody>
      </p:sp>
      <p:sp>
        <p:nvSpPr>
          <p:cNvPr id="22" name="TextBox 21">
            <a:extLst>
              <a:ext uri="{FF2B5EF4-FFF2-40B4-BE49-F238E27FC236}">
                <a16:creationId xmlns:a16="http://schemas.microsoft.com/office/drawing/2014/main" id="{CEAB9CAE-E42B-75F0-CAC4-85A1C15508E3}"/>
              </a:ext>
            </a:extLst>
          </p:cNvPr>
          <p:cNvSpPr txBox="1"/>
          <p:nvPr/>
        </p:nvSpPr>
        <p:spPr>
          <a:xfrm>
            <a:off x="4884635" y="5781260"/>
            <a:ext cx="2544286" cy="553998"/>
          </a:xfrm>
          <a:prstGeom prst="rect">
            <a:avLst/>
          </a:prstGeom>
          <a:noFill/>
        </p:spPr>
        <p:txBody>
          <a:bodyPr wrap="none" rtlCol="0">
            <a:spAutoFit/>
          </a:bodyPr>
          <a:lstStyle/>
          <a:p>
            <a:r>
              <a:rPr lang="en-IN" sz="3000" dirty="0">
                <a:solidFill>
                  <a:schemeClr val="bg1"/>
                </a:solidFill>
                <a:latin typeface="Segoe UI Black" panose="020B0A02040204020203" pitchFamily="34" charset="0"/>
                <a:ea typeface="Segoe UI Black" panose="020B0A02040204020203" pitchFamily="34" charset="0"/>
              </a:rPr>
              <a:t>THANK YOU</a:t>
            </a:r>
          </a:p>
        </p:txBody>
      </p:sp>
      <p:sp>
        <p:nvSpPr>
          <p:cNvPr id="23" name="TextBox 22">
            <a:extLst>
              <a:ext uri="{FF2B5EF4-FFF2-40B4-BE49-F238E27FC236}">
                <a16:creationId xmlns:a16="http://schemas.microsoft.com/office/drawing/2014/main" id="{FEA50708-4C8E-7E43-A2B8-A2826CE75E9B}"/>
              </a:ext>
            </a:extLst>
          </p:cNvPr>
          <p:cNvSpPr txBox="1"/>
          <p:nvPr/>
        </p:nvSpPr>
        <p:spPr>
          <a:xfrm>
            <a:off x="9990780" y="5952158"/>
            <a:ext cx="2201220" cy="323165"/>
          </a:xfrm>
          <a:prstGeom prst="rect">
            <a:avLst/>
          </a:prstGeom>
          <a:noFill/>
        </p:spPr>
        <p:txBody>
          <a:bodyPr wrap="square">
            <a:spAutoFit/>
          </a:bodyPr>
          <a:lstStyle/>
          <a:p>
            <a:r>
              <a:rPr lang="en-IN" sz="1500"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Team 𝕰𝖑𝖊𝖈𝖙𝖗𝖔𝖕𝖍𝖔𝖊𝖓𝖎𝖝</a:t>
            </a:r>
            <a:endParaRPr lang="en-IN" sz="15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 name="TextBox 1">
            <a:extLst>
              <a:ext uri="{FF2B5EF4-FFF2-40B4-BE49-F238E27FC236}">
                <a16:creationId xmlns:a16="http://schemas.microsoft.com/office/drawing/2014/main" id="{E6D2CE42-3BB5-4605-D3A6-9EBDE8FFAF1B}"/>
              </a:ext>
            </a:extLst>
          </p:cNvPr>
          <p:cNvSpPr txBox="1"/>
          <p:nvPr/>
        </p:nvSpPr>
        <p:spPr>
          <a:xfrm>
            <a:off x="9931996" y="6177602"/>
            <a:ext cx="2201220" cy="646331"/>
          </a:xfrm>
          <a:prstGeom prst="rect">
            <a:avLst/>
          </a:prstGeom>
          <a:noFill/>
        </p:spPr>
        <p:txBody>
          <a:bodyPr wrap="square">
            <a:spAutoFit/>
          </a:bodyPr>
          <a:lstStyle/>
          <a:p>
            <a:pPr algn="ctr"/>
            <a:r>
              <a:rPr lang="en-IN" sz="1200" b="1"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Tuhin Roy</a:t>
            </a:r>
            <a:br>
              <a:rPr lang="en-IN" sz="1200" b="1"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200" b="1"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Shifa Tasnim</a:t>
            </a:r>
            <a:br>
              <a:rPr lang="en-IN" sz="1200" b="1"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200" b="1" dirty="0">
                <a:solidFill>
                  <a:schemeClr val="bg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Partha Das</a:t>
            </a:r>
            <a:endParaRPr lang="en-IN" sz="12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3182383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
  <TotalTime>2117</TotalTime>
  <Words>927</Words>
  <Application>Microsoft Office PowerPoint</Application>
  <PresentationFormat>Widescreen</PresentationFormat>
  <Paragraphs>84</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Aharoni</vt:lpstr>
      <vt:lpstr>Arial</vt:lpstr>
      <vt:lpstr>Calibri Light</vt:lpstr>
      <vt:lpstr>Sans Serif Collection</vt:lpstr>
      <vt:lpstr>Segoe UI</vt:lpstr>
      <vt:lpstr>Segoe UI Black</vt:lpstr>
      <vt:lpstr>Segoe UI Semibold</vt:lpstr>
      <vt:lpstr>Segoe UI Variable Small Semibol</vt:lpstr>
      <vt:lpstr>Wingdings</vt:lpstr>
      <vt:lpstr>Metropolitan</vt:lpstr>
      <vt:lpstr>PowerPoint Presentation</vt:lpstr>
      <vt:lpstr>The Cost of Sloth Intelligence</vt:lpstr>
      <vt:lpstr>The SpinSafe Approach : Edge Native AI</vt:lpstr>
      <vt:lpstr>System Architecture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Tuhin Roy</dc:creator>
  <cp:lastModifiedBy>Tuhin Roy</cp:lastModifiedBy>
  <cp:revision>13</cp:revision>
  <dcterms:created xsi:type="dcterms:W3CDTF">2026-02-13T13:39:48Z</dcterms:created>
  <dcterms:modified xsi:type="dcterms:W3CDTF">2026-03-08T04:32:39Z</dcterms:modified>
</cp:coreProperties>
</file>